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sldIdLst>
    <p:sldId id="256" r:id="rId2"/>
    <p:sldId id="360" r:id="rId3"/>
    <p:sldId id="304" r:id="rId4"/>
    <p:sldId id="305" r:id="rId5"/>
    <p:sldId id="311" r:id="rId6"/>
    <p:sldId id="274" r:id="rId7"/>
    <p:sldId id="275" r:id="rId8"/>
    <p:sldId id="372" r:id="rId9"/>
    <p:sldId id="344" r:id="rId10"/>
    <p:sldId id="345" r:id="rId11"/>
    <p:sldId id="369" r:id="rId12"/>
    <p:sldId id="371" r:id="rId13"/>
    <p:sldId id="346" r:id="rId14"/>
    <p:sldId id="347" r:id="rId15"/>
    <p:sldId id="348" r:id="rId16"/>
    <p:sldId id="349" r:id="rId17"/>
    <p:sldId id="350" r:id="rId18"/>
    <p:sldId id="354" r:id="rId19"/>
    <p:sldId id="351" r:id="rId20"/>
    <p:sldId id="353" r:id="rId21"/>
    <p:sldId id="365" r:id="rId22"/>
    <p:sldId id="370" r:id="rId23"/>
    <p:sldId id="258" r:id="rId24"/>
    <p:sldId id="260" r:id="rId25"/>
    <p:sldId id="26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95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3" autoAdjust="0"/>
    <p:restoredTop sz="94660"/>
  </p:normalViewPr>
  <p:slideViewPr>
    <p:cSldViewPr snapToGrid="0">
      <p:cViewPr>
        <p:scale>
          <a:sx n="75" d="100"/>
          <a:sy n="75" d="100"/>
        </p:scale>
        <p:origin x="97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Producción!$B$5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Producción!$C$4:$P$4</c:f>
              <c:strCache>
                <c:ptCount val="14"/>
                <c:pt idx="0">
                  <c:v>NIC</c:v>
                </c:pt>
                <c:pt idx="1">
                  <c:v>HND</c:v>
                </c:pt>
                <c:pt idx="2">
                  <c:v>GTM</c:v>
                </c:pt>
                <c:pt idx="3">
                  <c:v>ECU</c:v>
                </c:pt>
                <c:pt idx="4">
                  <c:v>CRI</c:v>
                </c:pt>
                <c:pt idx="5">
                  <c:v>SLV</c:v>
                </c:pt>
                <c:pt idx="6">
                  <c:v>ARG</c:v>
                </c:pt>
                <c:pt idx="7">
                  <c:v>DOM</c:v>
                </c:pt>
                <c:pt idx="8">
                  <c:v>BRA</c:v>
                </c:pt>
                <c:pt idx="9">
                  <c:v>PER</c:v>
                </c:pt>
                <c:pt idx="10">
                  <c:v>CHL</c:v>
                </c:pt>
                <c:pt idx="11">
                  <c:v>COL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Producción!$C$5:$P$5</c:f>
              <c:numCache>
                <c:formatCode>0.0%</c:formatCode>
                <c:ptCount val="14"/>
                <c:pt idx="0">
                  <c:v>0.29055543039213888</c:v>
                </c:pt>
                <c:pt idx="1">
                  <c:v>0.25137496195917719</c:v>
                </c:pt>
                <c:pt idx="2">
                  <c:v>0.21572207032694302</c:v>
                </c:pt>
                <c:pt idx="3">
                  <c:v>0.20638744753742386</c:v>
                </c:pt>
                <c:pt idx="4">
                  <c:v>0.19482634618194675</c:v>
                </c:pt>
                <c:pt idx="5">
                  <c:v>0.16906568633878807</c:v>
                </c:pt>
                <c:pt idx="6">
                  <c:v>0.15961160767454743</c:v>
                </c:pt>
                <c:pt idx="7">
                  <c:v>0.14756896875059314</c:v>
                </c:pt>
                <c:pt idx="8">
                  <c:v>0.14512610730548933</c:v>
                </c:pt>
                <c:pt idx="9">
                  <c:v>0.13756521711116587</c:v>
                </c:pt>
                <c:pt idx="10">
                  <c:v>0.12002705502151075</c:v>
                </c:pt>
                <c:pt idx="11">
                  <c:v>0.11904183461779277</c:v>
                </c:pt>
                <c:pt idx="12">
                  <c:v>0.11472954789574334</c:v>
                </c:pt>
                <c:pt idx="13">
                  <c:v>0.17473863700871237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46-4C4B-B8D2-9EB1D8B9AE00}"/>
            </c:ext>
          </c:extLst>
        </c:ser>
        <c:ser>
          <c:idx val="1"/>
          <c:order val="1"/>
          <c:tx>
            <c:strRef>
              <c:f>Producción!$B$6</c:f>
              <c:strCache>
                <c:ptCount val="1"/>
                <c:pt idx="0">
                  <c:v>Bioeconomía extendida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Producción!$C$4:$P$4</c:f>
              <c:strCache>
                <c:ptCount val="14"/>
                <c:pt idx="0">
                  <c:v>NIC</c:v>
                </c:pt>
                <c:pt idx="1">
                  <c:v>HND</c:v>
                </c:pt>
                <c:pt idx="2">
                  <c:v>GTM</c:v>
                </c:pt>
                <c:pt idx="3">
                  <c:v>ECU</c:v>
                </c:pt>
                <c:pt idx="4">
                  <c:v>CRI</c:v>
                </c:pt>
                <c:pt idx="5">
                  <c:v>SLV</c:v>
                </c:pt>
                <c:pt idx="6">
                  <c:v>ARG</c:v>
                </c:pt>
                <c:pt idx="7">
                  <c:v>DOM</c:v>
                </c:pt>
                <c:pt idx="8">
                  <c:v>BRA</c:v>
                </c:pt>
                <c:pt idx="9">
                  <c:v>PER</c:v>
                </c:pt>
                <c:pt idx="10">
                  <c:v>CHL</c:v>
                </c:pt>
                <c:pt idx="11">
                  <c:v>COL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Producción!$C$6:$P$6</c:f>
              <c:numCache>
                <c:formatCode>0.0%</c:formatCode>
                <c:ptCount val="14"/>
                <c:pt idx="0">
                  <c:v>0.10406536681640381</c:v>
                </c:pt>
                <c:pt idx="1">
                  <c:v>0.20434422256423551</c:v>
                </c:pt>
                <c:pt idx="2">
                  <c:v>9.8319599406740302E-2</c:v>
                </c:pt>
                <c:pt idx="3">
                  <c:v>9.4171284336483571E-2</c:v>
                </c:pt>
                <c:pt idx="4">
                  <c:v>0.11327527641739261</c:v>
                </c:pt>
                <c:pt idx="5">
                  <c:v>0.13026243851713912</c:v>
                </c:pt>
                <c:pt idx="6">
                  <c:v>4.6237817170051515E-2</c:v>
                </c:pt>
                <c:pt idx="7">
                  <c:v>0.15379991897380657</c:v>
                </c:pt>
                <c:pt idx="8">
                  <c:v>8.119943280646727E-2</c:v>
                </c:pt>
                <c:pt idx="9">
                  <c:v>8.7276965131094647E-2</c:v>
                </c:pt>
                <c:pt idx="10">
                  <c:v>6.4522798989110897E-2</c:v>
                </c:pt>
                <c:pt idx="11">
                  <c:v>0.10675488128247816</c:v>
                </c:pt>
                <c:pt idx="12">
                  <c:v>9.8764786366920793E-2</c:v>
                </c:pt>
                <c:pt idx="13">
                  <c:v>0.10638421452140961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146-4C4B-B8D2-9EB1D8B9AE00}"/>
            </c:ext>
          </c:extLst>
        </c:ser>
        <c:ser>
          <c:idx val="2"/>
          <c:order val="2"/>
          <c:tx>
            <c:strRef>
              <c:f>Producción!$B$7</c:f>
              <c:strCache>
                <c:ptCount val="1"/>
                <c:pt idx="0">
                  <c:v>No bioeconomía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Producción!$C$4:$P$4</c:f>
              <c:strCache>
                <c:ptCount val="14"/>
                <c:pt idx="0">
                  <c:v>NIC</c:v>
                </c:pt>
                <c:pt idx="1">
                  <c:v>HND</c:v>
                </c:pt>
                <c:pt idx="2">
                  <c:v>GTM</c:v>
                </c:pt>
                <c:pt idx="3">
                  <c:v>ECU</c:v>
                </c:pt>
                <c:pt idx="4">
                  <c:v>CRI</c:v>
                </c:pt>
                <c:pt idx="5">
                  <c:v>SLV</c:v>
                </c:pt>
                <c:pt idx="6">
                  <c:v>ARG</c:v>
                </c:pt>
                <c:pt idx="7">
                  <c:v>DOM</c:v>
                </c:pt>
                <c:pt idx="8">
                  <c:v>BRA</c:v>
                </c:pt>
                <c:pt idx="9">
                  <c:v>PER</c:v>
                </c:pt>
                <c:pt idx="10">
                  <c:v>CHL</c:v>
                </c:pt>
                <c:pt idx="11">
                  <c:v>COL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Producción!$C$7:$P$7</c:f>
              <c:numCache>
                <c:formatCode>0.0%</c:formatCode>
                <c:ptCount val="14"/>
                <c:pt idx="0">
                  <c:v>0.60537920279145729</c:v>
                </c:pt>
                <c:pt idx="1">
                  <c:v>0.54428081547658713</c:v>
                </c:pt>
                <c:pt idx="2">
                  <c:v>0.68595833026631681</c:v>
                </c:pt>
                <c:pt idx="3">
                  <c:v>0.69944126812609264</c:v>
                </c:pt>
                <c:pt idx="4">
                  <c:v>0.69189837740066062</c:v>
                </c:pt>
                <c:pt idx="5">
                  <c:v>0.70067187514407292</c:v>
                </c:pt>
                <c:pt idx="6">
                  <c:v>0.79415057515540111</c:v>
                </c:pt>
                <c:pt idx="7">
                  <c:v>0.69863111227560015</c:v>
                </c:pt>
                <c:pt idx="8">
                  <c:v>0.7736744598880434</c:v>
                </c:pt>
                <c:pt idx="9">
                  <c:v>0.77515781775773951</c:v>
                </c:pt>
                <c:pt idx="10">
                  <c:v>0.81545014598937826</c:v>
                </c:pt>
                <c:pt idx="11">
                  <c:v>0.77420328409972905</c:v>
                </c:pt>
                <c:pt idx="12">
                  <c:v>0.78650566573733594</c:v>
                </c:pt>
                <c:pt idx="13">
                  <c:v>0.71887714846987794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146-4C4B-B8D2-9EB1D8B9AE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'Consumo intermedio'!$B$5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'Consumo intermedio'!$C$4:$P$4</c:f>
              <c:strCache>
                <c:ptCount val="14"/>
                <c:pt idx="0">
                  <c:v>NIC</c:v>
                </c:pt>
                <c:pt idx="1">
                  <c:v>GTM</c:v>
                </c:pt>
                <c:pt idx="2">
                  <c:v>ECU</c:v>
                </c:pt>
                <c:pt idx="3">
                  <c:v>HND</c:v>
                </c:pt>
                <c:pt idx="4">
                  <c:v>CRI</c:v>
                </c:pt>
                <c:pt idx="5">
                  <c:v>SLV</c:v>
                </c:pt>
                <c:pt idx="6">
                  <c:v>DOM</c:v>
                </c:pt>
                <c:pt idx="7">
                  <c:v>PER</c:v>
                </c:pt>
                <c:pt idx="8">
                  <c:v>ARG</c:v>
                </c:pt>
                <c:pt idx="9">
                  <c:v>BRA</c:v>
                </c:pt>
                <c:pt idx="10">
                  <c:v>COL</c:v>
                </c:pt>
                <c:pt idx="11">
                  <c:v>CHL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'Consumo intermedio'!$C$5:$P$5</c:f>
              <c:numCache>
                <c:formatCode>0.0%</c:formatCode>
                <c:ptCount val="14"/>
                <c:pt idx="0">
                  <c:v>0.26456428352869638</c:v>
                </c:pt>
                <c:pt idx="1">
                  <c:v>0.24040551448242128</c:v>
                </c:pt>
                <c:pt idx="2">
                  <c:v>0.22971338281518244</c:v>
                </c:pt>
                <c:pt idx="3">
                  <c:v>0.22623057360077559</c:v>
                </c:pt>
                <c:pt idx="4">
                  <c:v>0.20999157191892548</c:v>
                </c:pt>
                <c:pt idx="5">
                  <c:v>0.18568827416060904</c:v>
                </c:pt>
                <c:pt idx="6">
                  <c:v>0.17850492348527822</c:v>
                </c:pt>
                <c:pt idx="7">
                  <c:v>0.17615167091044426</c:v>
                </c:pt>
                <c:pt idx="8">
                  <c:v>0.17298050354088709</c:v>
                </c:pt>
                <c:pt idx="9">
                  <c:v>0.15705033956451725</c:v>
                </c:pt>
                <c:pt idx="10">
                  <c:v>0.13505469130236691</c:v>
                </c:pt>
                <c:pt idx="11">
                  <c:v>0.12208980342507127</c:v>
                </c:pt>
                <c:pt idx="12">
                  <c:v>0.11994292907336622</c:v>
                </c:pt>
                <c:pt idx="13">
                  <c:v>0.18602834321604164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FC-4AF3-8E5A-F5FEF2A17973}"/>
            </c:ext>
          </c:extLst>
        </c:ser>
        <c:ser>
          <c:idx val="1"/>
          <c:order val="1"/>
          <c:tx>
            <c:strRef>
              <c:f>'Consumo intermedio'!$B$6</c:f>
              <c:strCache>
                <c:ptCount val="1"/>
                <c:pt idx="0">
                  <c:v>Bioeconomía extendida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'Consumo intermedio'!$C$4:$P$4</c:f>
              <c:strCache>
                <c:ptCount val="14"/>
                <c:pt idx="0">
                  <c:v>NIC</c:v>
                </c:pt>
                <c:pt idx="1">
                  <c:v>GTM</c:v>
                </c:pt>
                <c:pt idx="2">
                  <c:v>ECU</c:v>
                </c:pt>
                <c:pt idx="3">
                  <c:v>HND</c:v>
                </c:pt>
                <c:pt idx="4">
                  <c:v>CRI</c:v>
                </c:pt>
                <c:pt idx="5">
                  <c:v>SLV</c:v>
                </c:pt>
                <c:pt idx="6">
                  <c:v>DOM</c:v>
                </c:pt>
                <c:pt idx="7">
                  <c:v>PER</c:v>
                </c:pt>
                <c:pt idx="8">
                  <c:v>ARG</c:v>
                </c:pt>
                <c:pt idx="9">
                  <c:v>BRA</c:v>
                </c:pt>
                <c:pt idx="10">
                  <c:v>COL</c:v>
                </c:pt>
                <c:pt idx="11">
                  <c:v>CHL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'Consumo intermedio'!$C$6:$P$6</c:f>
              <c:numCache>
                <c:formatCode>0.0%</c:formatCode>
                <c:ptCount val="14"/>
                <c:pt idx="0">
                  <c:v>0.17776114258602224</c:v>
                </c:pt>
                <c:pt idx="1">
                  <c:v>0.13624790907660855</c:v>
                </c:pt>
                <c:pt idx="2">
                  <c:v>7.5960319059870135E-2</c:v>
                </c:pt>
                <c:pt idx="3">
                  <c:v>0.29294844423198985</c:v>
                </c:pt>
                <c:pt idx="4">
                  <c:v>6.4613334011604004E-2</c:v>
                </c:pt>
                <c:pt idx="5">
                  <c:v>0.18672303431897713</c:v>
                </c:pt>
                <c:pt idx="6">
                  <c:v>0.21812017565965619</c:v>
                </c:pt>
                <c:pt idx="7">
                  <c:v>9.9107310970062451E-2</c:v>
                </c:pt>
                <c:pt idx="8">
                  <c:v>8.2395473695457008E-2</c:v>
                </c:pt>
                <c:pt idx="9">
                  <c:v>0.10526450025504847</c:v>
                </c:pt>
                <c:pt idx="10">
                  <c:v>0.12409371005179141</c:v>
                </c:pt>
                <c:pt idx="11">
                  <c:v>6.4960137710877885E-2</c:v>
                </c:pt>
                <c:pt idx="12">
                  <c:v>0.1063961862597512</c:v>
                </c:pt>
                <c:pt idx="13">
                  <c:v>0.13343012906828589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FC-4AF3-8E5A-F5FEF2A17973}"/>
            </c:ext>
          </c:extLst>
        </c:ser>
        <c:ser>
          <c:idx val="2"/>
          <c:order val="2"/>
          <c:tx>
            <c:strRef>
              <c:f>'Consumo intermedio'!$B$7</c:f>
              <c:strCache>
                <c:ptCount val="1"/>
                <c:pt idx="0">
                  <c:v>No bioeconomía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'Consumo intermedio'!$C$4:$P$4</c:f>
              <c:strCache>
                <c:ptCount val="14"/>
                <c:pt idx="0">
                  <c:v>NIC</c:v>
                </c:pt>
                <c:pt idx="1">
                  <c:v>GTM</c:v>
                </c:pt>
                <c:pt idx="2">
                  <c:v>ECU</c:v>
                </c:pt>
                <c:pt idx="3">
                  <c:v>HND</c:v>
                </c:pt>
                <c:pt idx="4">
                  <c:v>CRI</c:v>
                </c:pt>
                <c:pt idx="5">
                  <c:v>SLV</c:v>
                </c:pt>
                <c:pt idx="6">
                  <c:v>DOM</c:v>
                </c:pt>
                <c:pt idx="7">
                  <c:v>PER</c:v>
                </c:pt>
                <c:pt idx="8">
                  <c:v>ARG</c:v>
                </c:pt>
                <c:pt idx="9">
                  <c:v>BRA</c:v>
                </c:pt>
                <c:pt idx="10">
                  <c:v>COL</c:v>
                </c:pt>
                <c:pt idx="11">
                  <c:v>CHL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'Consumo intermedio'!$C$7:$P$7</c:f>
              <c:numCache>
                <c:formatCode>0.0%</c:formatCode>
                <c:ptCount val="14"/>
                <c:pt idx="0">
                  <c:v>0.55711486188213366</c:v>
                </c:pt>
                <c:pt idx="1">
                  <c:v>0.62334657644097002</c:v>
                </c:pt>
                <c:pt idx="2">
                  <c:v>0.69432629812494739</c:v>
                </c:pt>
                <c:pt idx="3">
                  <c:v>0.48082098216723473</c:v>
                </c:pt>
                <c:pt idx="4">
                  <c:v>0.72539509406947067</c:v>
                </c:pt>
                <c:pt idx="5">
                  <c:v>0.62758869152041363</c:v>
                </c:pt>
                <c:pt idx="6">
                  <c:v>0.60337490085506573</c:v>
                </c:pt>
                <c:pt idx="7">
                  <c:v>0.72474101811949332</c:v>
                </c:pt>
                <c:pt idx="8">
                  <c:v>0.74462402276365591</c:v>
                </c:pt>
                <c:pt idx="9">
                  <c:v>0.73768516018043429</c:v>
                </c:pt>
                <c:pt idx="10">
                  <c:v>0.74085159864584171</c:v>
                </c:pt>
                <c:pt idx="11">
                  <c:v>0.81295005886405092</c:v>
                </c:pt>
                <c:pt idx="12">
                  <c:v>0.77259720737662085</c:v>
                </c:pt>
                <c:pt idx="13">
                  <c:v>0.68041665161617937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FC-4AF3-8E5A-F5FEF2A1797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Importaciones!$B$5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Importaciones!$C$4:$P$4</c:f>
              <c:strCache>
                <c:ptCount val="14"/>
                <c:pt idx="0">
                  <c:v>CRI</c:v>
                </c:pt>
                <c:pt idx="1">
                  <c:v>SLV</c:v>
                </c:pt>
                <c:pt idx="2">
                  <c:v>GTM</c:v>
                </c:pt>
                <c:pt idx="3">
                  <c:v>NIC</c:v>
                </c:pt>
                <c:pt idx="4">
                  <c:v>DOM</c:v>
                </c:pt>
                <c:pt idx="5">
                  <c:v>HND</c:v>
                </c:pt>
                <c:pt idx="6">
                  <c:v>PER</c:v>
                </c:pt>
                <c:pt idx="7">
                  <c:v>COL</c:v>
                </c:pt>
                <c:pt idx="8">
                  <c:v>ECU</c:v>
                </c:pt>
                <c:pt idx="9">
                  <c:v>CHL</c:v>
                </c:pt>
                <c:pt idx="10">
                  <c:v>PAN</c:v>
                </c:pt>
                <c:pt idx="11">
                  <c:v>BRA</c:v>
                </c:pt>
                <c:pt idx="12">
                  <c:v>ARG</c:v>
                </c:pt>
                <c:pt idx="13">
                  <c:v>Promedio</c:v>
                </c:pt>
              </c:strCache>
            </c:strRef>
          </c:cat>
          <c:val>
            <c:numRef>
              <c:f>Importaciones!$C$5:$P$5</c:f>
              <c:numCache>
                <c:formatCode>0.0%</c:formatCode>
                <c:ptCount val="14"/>
                <c:pt idx="0">
                  <c:v>0.27093430196197221</c:v>
                </c:pt>
                <c:pt idx="1">
                  <c:v>0.17764656309252344</c:v>
                </c:pt>
                <c:pt idx="2">
                  <c:v>0.17227021709765081</c:v>
                </c:pt>
                <c:pt idx="3">
                  <c:v>0.14814823486804313</c:v>
                </c:pt>
                <c:pt idx="4">
                  <c:v>0.1237501294835595</c:v>
                </c:pt>
                <c:pt idx="5">
                  <c:v>0.1215697035500555</c:v>
                </c:pt>
                <c:pt idx="6">
                  <c:v>0.11473124989065717</c:v>
                </c:pt>
                <c:pt idx="7">
                  <c:v>0.10189064842771171</c:v>
                </c:pt>
                <c:pt idx="8">
                  <c:v>9.8610748504064427E-2</c:v>
                </c:pt>
                <c:pt idx="9">
                  <c:v>9.0449297850929145E-2</c:v>
                </c:pt>
                <c:pt idx="10">
                  <c:v>8.0342900345944865E-2</c:v>
                </c:pt>
                <c:pt idx="11">
                  <c:v>5.9610576315773642E-2</c:v>
                </c:pt>
                <c:pt idx="12">
                  <c:v>5.9571573505381788E-2</c:v>
                </c:pt>
                <c:pt idx="13">
                  <c:v>0.12457893422263597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B47-45F2-829E-E3B0F1A54A7B}"/>
            </c:ext>
          </c:extLst>
        </c:ser>
        <c:ser>
          <c:idx val="1"/>
          <c:order val="1"/>
          <c:tx>
            <c:strRef>
              <c:f>Importaciones!$B$6</c:f>
              <c:strCache>
                <c:ptCount val="1"/>
                <c:pt idx="0">
                  <c:v>Bioeconomía extendida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Importaciones!$C$4:$P$4</c:f>
              <c:strCache>
                <c:ptCount val="14"/>
                <c:pt idx="0">
                  <c:v>CRI</c:v>
                </c:pt>
                <c:pt idx="1">
                  <c:v>SLV</c:v>
                </c:pt>
                <c:pt idx="2">
                  <c:v>GTM</c:v>
                </c:pt>
                <c:pt idx="3">
                  <c:v>NIC</c:v>
                </c:pt>
                <c:pt idx="4">
                  <c:v>DOM</c:v>
                </c:pt>
                <c:pt idx="5">
                  <c:v>HND</c:v>
                </c:pt>
                <c:pt idx="6">
                  <c:v>PER</c:v>
                </c:pt>
                <c:pt idx="7">
                  <c:v>COL</c:v>
                </c:pt>
                <c:pt idx="8">
                  <c:v>ECU</c:v>
                </c:pt>
                <c:pt idx="9">
                  <c:v>CHL</c:v>
                </c:pt>
                <c:pt idx="10">
                  <c:v>PAN</c:v>
                </c:pt>
                <c:pt idx="11">
                  <c:v>BRA</c:v>
                </c:pt>
                <c:pt idx="12">
                  <c:v>ARG</c:v>
                </c:pt>
                <c:pt idx="13">
                  <c:v>Promedio</c:v>
                </c:pt>
              </c:strCache>
            </c:strRef>
          </c:cat>
          <c:val>
            <c:numRef>
              <c:f>Importaciones!$C$6:$P$6</c:f>
              <c:numCache>
                <c:formatCode>0.0%</c:formatCode>
                <c:ptCount val="14"/>
                <c:pt idx="0">
                  <c:v>6.5214339235161525E-2</c:v>
                </c:pt>
                <c:pt idx="1">
                  <c:v>0.24048997137962683</c:v>
                </c:pt>
                <c:pt idx="2">
                  <c:v>0.19212747104716074</c:v>
                </c:pt>
                <c:pt idx="3">
                  <c:v>0.32176525562898761</c:v>
                </c:pt>
                <c:pt idx="4">
                  <c:v>0.11135564906500375</c:v>
                </c:pt>
                <c:pt idx="5">
                  <c:v>0.40115545440430994</c:v>
                </c:pt>
                <c:pt idx="6">
                  <c:v>0.15649146542725348</c:v>
                </c:pt>
                <c:pt idx="7">
                  <c:v>0.18492616098753262</c:v>
                </c:pt>
                <c:pt idx="8">
                  <c:v>0.12306355318987214</c:v>
                </c:pt>
                <c:pt idx="9">
                  <c:v>0.12929330076384721</c:v>
                </c:pt>
                <c:pt idx="10">
                  <c:v>0.29468849316369033</c:v>
                </c:pt>
                <c:pt idx="11">
                  <c:v>0.16791014101620694</c:v>
                </c:pt>
                <c:pt idx="12">
                  <c:v>0.14687229948964112</c:v>
                </c:pt>
                <c:pt idx="13">
                  <c:v>0.1950271965229457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B47-45F2-829E-E3B0F1A54A7B}"/>
            </c:ext>
          </c:extLst>
        </c:ser>
        <c:ser>
          <c:idx val="2"/>
          <c:order val="2"/>
          <c:tx>
            <c:strRef>
              <c:f>Importaciones!$B$7</c:f>
              <c:strCache>
                <c:ptCount val="1"/>
                <c:pt idx="0">
                  <c:v>No bioeconomía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Importaciones!$C$4:$P$4</c:f>
              <c:strCache>
                <c:ptCount val="14"/>
                <c:pt idx="0">
                  <c:v>CRI</c:v>
                </c:pt>
                <c:pt idx="1">
                  <c:v>SLV</c:v>
                </c:pt>
                <c:pt idx="2">
                  <c:v>GTM</c:v>
                </c:pt>
                <c:pt idx="3">
                  <c:v>NIC</c:v>
                </c:pt>
                <c:pt idx="4">
                  <c:v>DOM</c:v>
                </c:pt>
                <c:pt idx="5">
                  <c:v>HND</c:v>
                </c:pt>
                <c:pt idx="6">
                  <c:v>PER</c:v>
                </c:pt>
                <c:pt idx="7">
                  <c:v>COL</c:v>
                </c:pt>
                <c:pt idx="8">
                  <c:v>ECU</c:v>
                </c:pt>
                <c:pt idx="9">
                  <c:v>CHL</c:v>
                </c:pt>
                <c:pt idx="10">
                  <c:v>PAN</c:v>
                </c:pt>
                <c:pt idx="11">
                  <c:v>BRA</c:v>
                </c:pt>
                <c:pt idx="12">
                  <c:v>ARG</c:v>
                </c:pt>
                <c:pt idx="13">
                  <c:v>Promedio</c:v>
                </c:pt>
              </c:strCache>
            </c:strRef>
          </c:cat>
          <c:val>
            <c:numRef>
              <c:f>Importaciones!$C$7:$P$7</c:f>
              <c:numCache>
                <c:formatCode>0.0%</c:formatCode>
                <c:ptCount val="14"/>
                <c:pt idx="0">
                  <c:v>0.66385135880286628</c:v>
                </c:pt>
                <c:pt idx="1">
                  <c:v>0.58186346552784973</c:v>
                </c:pt>
                <c:pt idx="2">
                  <c:v>0.63560231185518845</c:v>
                </c:pt>
                <c:pt idx="3">
                  <c:v>0.53008650950296921</c:v>
                </c:pt>
                <c:pt idx="4">
                  <c:v>0.76489422145143682</c:v>
                </c:pt>
                <c:pt idx="5">
                  <c:v>0.47727484204563453</c:v>
                </c:pt>
                <c:pt idx="6">
                  <c:v>0.72877728468208935</c:v>
                </c:pt>
                <c:pt idx="7">
                  <c:v>0.71318319058475566</c:v>
                </c:pt>
                <c:pt idx="8">
                  <c:v>0.77832569830606346</c:v>
                </c:pt>
                <c:pt idx="9">
                  <c:v>0.7802574013852237</c:v>
                </c:pt>
                <c:pt idx="10">
                  <c:v>0.62496860649036479</c:v>
                </c:pt>
                <c:pt idx="11">
                  <c:v>0.77247928266801946</c:v>
                </c:pt>
                <c:pt idx="12">
                  <c:v>0.79355612700497713</c:v>
                </c:pt>
                <c:pt idx="13">
                  <c:v>0.68039386925441836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B47-45F2-829E-E3B0F1A54A7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Exportaciones!$B$5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Exportaciones!$C$4:$P$4</c:f>
              <c:strCache>
                <c:ptCount val="14"/>
                <c:pt idx="0">
                  <c:v>ECU</c:v>
                </c:pt>
                <c:pt idx="1">
                  <c:v>ARG</c:v>
                </c:pt>
                <c:pt idx="2">
                  <c:v>NIC</c:v>
                </c:pt>
                <c:pt idx="3">
                  <c:v>GTM</c:v>
                </c:pt>
                <c:pt idx="4">
                  <c:v>BRA</c:v>
                </c:pt>
                <c:pt idx="5">
                  <c:v>HND</c:v>
                </c:pt>
                <c:pt idx="6">
                  <c:v>CRI</c:v>
                </c:pt>
                <c:pt idx="7">
                  <c:v>CHL</c:v>
                </c:pt>
                <c:pt idx="8">
                  <c:v>PER</c:v>
                </c:pt>
                <c:pt idx="9">
                  <c:v>SLV</c:v>
                </c:pt>
                <c:pt idx="10">
                  <c:v>COL</c:v>
                </c:pt>
                <c:pt idx="11">
                  <c:v>DOM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Exportaciones!$C$5:$P$5</c:f>
              <c:numCache>
                <c:formatCode>0.0%</c:formatCode>
                <c:ptCount val="14"/>
                <c:pt idx="0">
                  <c:v>0.4695106763775943</c:v>
                </c:pt>
                <c:pt idx="1">
                  <c:v>0.4578622820513582</c:v>
                </c:pt>
                <c:pt idx="2">
                  <c:v>0.44001578589486778</c:v>
                </c:pt>
                <c:pt idx="3">
                  <c:v>0.41485305695286945</c:v>
                </c:pt>
                <c:pt idx="4">
                  <c:v>0.35255244591515</c:v>
                </c:pt>
                <c:pt idx="5">
                  <c:v>0.31877871532304353</c:v>
                </c:pt>
                <c:pt idx="6">
                  <c:v>0.31616691998824409</c:v>
                </c:pt>
                <c:pt idx="7">
                  <c:v>0.22239358638095955</c:v>
                </c:pt>
                <c:pt idx="8">
                  <c:v>0.17908010178890196</c:v>
                </c:pt>
                <c:pt idx="9">
                  <c:v>0.14726665911405312</c:v>
                </c:pt>
                <c:pt idx="10">
                  <c:v>0.14163101059494704</c:v>
                </c:pt>
                <c:pt idx="11">
                  <c:v>0.13077223715233247</c:v>
                </c:pt>
                <c:pt idx="12">
                  <c:v>4.0060501267754338E-2</c:v>
                </c:pt>
                <c:pt idx="13">
                  <c:v>0.27930338298477508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78-46A1-95E9-F8CCE66B2CE9}"/>
            </c:ext>
          </c:extLst>
        </c:ser>
        <c:ser>
          <c:idx val="1"/>
          <c:order val="1"/>
          <c:tx>
            <c:strRef>
              <c:f>Exportaciones!$B$6</c:f>
              <c:strCache>
                <c:ptCount val="1"/>
                <c:pt idx="0">
                  <c:v>Bioeconomía extendida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Exportaciones!$C$4:$P$4</c:f>
              <c:strCache>
                <c:ptCount val="14"/>
                <c:pt idx="0">
                  <c:v>ECU</c:v>
                </c:pt>
                <c:pt idx="1">
                  <c:v>ARG</c:v>
                </c:pt>
                <c:pt idx="2">
                  <c:v>NIC</c:v>
                </c:pt>
                <c:pt idx="3">
                  <c:v>GTM</c:v>
                </c:pt>
                <c:pt idx="4">
                  <c:v>BRA</c:v>
                </c:pt>
                <c:pt idx="5">
                  <c:v>HND</c:v>
                </c:pt>
                <c:pt idx="6">
                  <c:v>CRI</c:v>
                </c:pt>
                <c:pt idx="7">
                  <c:v>CHL</c:v>
                </c:pt>
                <c:pt idx="8">
                  <c:v>PER</c:v>
                </c:pt>
                <c:pt idx="9">
                  <c:v>SLV</c:v>
                </c:pt>
                <c:pt idx="10">
                  <c:v>COL</c:v>
                </c:pt>
                <c:pt idx="11">
                  <c:v>DOM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Exportaciones!$C$6:$P$6</c:f>
              <c:numCache>
                <c:formatCode>0.0%</c:formatCode>
                <c:ptCount val="14"/>
                <c:pt idx="0">
                  <c:v>1.3628291985227308E-2</c:v>
                </c:pt>
                <c:pt idx="1">
                  <c:v>7.261556655439369E-2</c:v>
                </c:pt>
                <c:pt idx="2">
                  <c:v>0.25954824302151991</c:v>
                </c:pt>
                <c:pt idx="3">
                  <c:v>0.15378668219690328</c:v>
                </c:pt>
                <c:pt idx="4">
                  <c:v>5.9520650579090312E-2</c:v>
                </c:pt>
                <c:pt idx="5">
                  <c:v>0.44795924913819957</c:v>
                </c:pt>
                <c:pt idx="6">
                  <c:v>4.2087733875268367E-2</c:v>
                </c:pt>
                <c:pt idx="7">
                  <c:v>9.9062305388248714E-2</c:v>
                </c:pt>
                <c:pt idx="8">
                  <c:v>5.4622008323250301E-2</c:v>
                </c:pt>
                <c:pt idx="9">
                  <c:v>0.36475105833973209</c:v>
                </c:pt>
                <c:pt idx="10">
                  <c:v>0.10756036063569682</c:v>
                </c:pt>
                <c:pt idx="11">
                  <c:v>0.25312962005169132</c:v>
                </c:pt>
                <c:pt idx="12">
                  <c:v>0.27453971114911668</c:v>
                </c:pt>
                <c:pt idx="13">
                  <c:v>0.16944703701833369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C78-46A1-95E9-F8CCE66B2CE9}"/>
            </c:ext>
          </c:extLst>
        </c:ser>
        <c:ser>
          <c:idx val="2"/>
          <c:order val="2"/>
          <c:tx>
            <c:strRef>
              <c:f>Exportaciones!$B$7</c:f>
              <c:strCache>
                <c:ptCount val="1"/>
                <c:pt idx="0">
                  <c:v>No bioeconomía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Exportaciones!$C$4:$P$4</c:f>
              <c:strCache>
                <c:ptCount val="14"/>
                <c:pt idx="0">
                  <c:v>ECU</c:v>
                </c:pt>
                <c:pt idx="1">
                  <c:v>ARG</c:v>
                </c:pt>
                <c:pt idx="2">
                  <c:v>NIC</c:v>
                </c:pt>
                <c:pt idx="3">
                  <c:v>GTM</c:v>
                </c:pt>
                <c:pt idx="4">
                  <c:v>BRA</c:v>
                </c:pt>
                <c:pt idx="5">
                  <c:v>HND</c:v>
                </c:pt>
                <c:pt idx="6">
                  <c:v>CRI</c:v>
                </c:pt>
                <c:pt idx="7">
                  <c:v>CHL</c:v>
                </c:pt>
                <c:pt idx="8">
                  <c:v>PER</c:v>
                </c:pt>
                <c:pt idx="9">
                  <c:v>SLV</c:v>
                </c:pt>
                <c:pt idx="10">
                  <c:v>COL</c:v>
                </c:pt>
                <c:pt idx="11">
                  <c:v>DOM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Exportaciones!$C$7:$P$7</c:f>
              <c:numCache>
                <c:formatCode>0.0%</c:formatCode>
                <c:ptCount val="14"/>
                <c:pt idx="0">
                  <c:v>0.51686103163717834</c:v>
                </c:pt>
                <c:pt idx="1">
                  <c:v>0.45055368963362458</c:v>
                </c:pt>
                <c:pt idx="2">
                  <c:v>0.27587614094801588</c:v>
                </c:pt>
                <c:pt idx="3">
                  <c:v>0.33795784408611468</c:v>
                </c:pt>
                <c:pt idx="4">
                  <c:v>0.58792690350575971</c:v>
                </c:pt>
                <c:pt idx="5">
                  <c:v>0.21563145092339797</c:v>
                </c:pt>
                <c:pt idx="6">
                  <c:v>0.64174534613648759</c:v>
                </c:pt>
                <c:pt idx="7">
                  <c:v>0.6785441082307917</c:v>
                </c:pt>
                <c:pt idx="8">
                  <c:v>0.76629788988784775</c:v>
                </c:pt>
                <c:pt idx="9">
                  <c:v>0.44468204737539607</c:v>
                </c:pt>
                <c:pt idx="10">
                  <c:v>0.69138396495517518</c:v>
                </c:pt>
                <c:pt idx="11">
                  <c:v>0.58063560254123137</c:v>
                </c:pt>
                <c:pt idx="12">
                  <c:v>0.54143115189617264</c:v>
                </c:pt>
                <c:pt idx="13">
                  <c:v>0.51765593628901485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C78-46A1-95E9-F8CCE66B2CE9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'Impuestos-Subv.'!$B$5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'Impuestos-Subv.'!$C$4:$P$4</c:f>
              <c:strCache>
                <c:ptCount val="14"/>
                <c:pt idx="0">
                  <c:v>CRI</c:v>
                </c:pt>
                <c:pt idx="1">
                  <c:v>DOM</c:v>
                </c:pt>
                <c:pt idx="2">
                  <c:v>ARG</c:v>
                </c:pt>
                <c:pt idx="3">
                  <c:v>NIC</c:v>
                </c:pt>
                <c:pt idx="4">
                  <c:v>SLV</c:v>
                </c:pt>
                <c:pt idx="5">
                  <c:v>GTM</c:v>
                </c:pt>
                <c:pt idx="6">
                  <c:v>PER</c:v>
                </c:pt>
                <c:pt idx="7">
                  <c:v>CHL</c:v>
                </c:pt>
                <c:pt idx="8">
                  <c:v>HND</c:v>
                </c:pt>
                <c:pt idx="9">
                  <c:v>BRA</c:v>
                </c:pt>
                <c:pt idx="10">
                  <c:v>ECU</c:v>
                </c:pt>
                <c:pt idx="11">
                  <c:v>COL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'Impuestos-Subv.'!$C$5:$P$5</c:f>
              <c:numCache>
                <c:formatCode>0.0%</c:formatCode>
                <c:ptCount val="14"/>
                <c:pt idx="0">
                  <c:v>0.32699162471682619</c:v>
                </c:pt>
                <c:pt idx="1">
                  <c:v>0.30653737765717587</c:v>
                </c:pt>
                <c:pt idx="2">
                  <c:v>0.29968347500767412</c:v>
                </c:pt>
                <c:pt idx="3">
                  <c:v>0.29261732369988147</c:v>
                </c:pt>
                <c:pt idx="4">
                  <c:v>0.29008554812895493</c:v>
                </c:pt>
                <c:pt idx="5">
                  <c:v>0.26495672170360945</c:v>
                </c:pt>
                <c:pt idx="6">
                  <c:v>0.25096691018478728</c:v>
                </c:pt>
                <c:pt idx="7">
                  <c:v>0.23763392849298243</c:v>
                </c:pt>
                <c:pt idx="8">
                  <c:v>0.21151069467727079</c:v>
                </c:pt>
                <c:pt idx="9">
                  <c:v>0.20757086418708728</c:v>
                </c:pt>
                <c:pt idx="10">
                  <c:v>0.18572374246570661</c:v>
                </c:pt>
                <c:pt idx="11">
                  <c:v>0.17444450540407089</c:v>
                </c:pt>
                <c:pt idx="12">
                  <c:v>0.13943767559394221</c:v>
                </c:pt>
                <c:pt idx="13">
                  <c:v>0.24524310707076685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771-40B3-AB76-EA54646D0DDE}"/>
            </c:ext>
          </c:extLst>
        </c:ser>
        <c:ser>
          <c:idx val="1"/>
          <c:order val="1"/>
          <c:tx>
            <c:strRef>
              <c:f>'Impuestos-Subv.'!$B$6</c:f>
              <c:strCache>
                <c:ptCount val="1"/>
                <c:pt idx="0">
                  <c:v>Bioeconomía extendida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'Impuestos-Subv.'!$C$4:$P$4</c:f>
              <c:strCache>
                <c:ptCount val="14"/>
                <c:pt idx="0">
                  <c:v>CRI</c:v>
                </c:pt>
                <c:pt idx="1">
                  <c:v>DOM</c:v>
                </c:pt>
                <c:pt idx="2">
                  <c:v>ARG</c:v>
                </c:pt>
                <c:pt idx="3">
                  <c:v>NIC</c:v>
                </c:pt>
                <c:pt idx="4">
                  <c:v>SLV</c:v>
                </c:pt>
                <c:pt idx="5">
                  <c:v>GTM</c:v>
                </c:pt>
                <c:pt idx="6">
                  <c:v>PER</c:v>
                </c:pt>
                <c:pt idx="7">
                  <c:v>CHL</c:v>
                </c:pt>
                <c:pt idx="8">
                  <c:v>HND</c:v>
                </c:pt>
                <c:pt idx="9">
                  <c:v>BRA</c:v>
                </c:pt>
                <c:pt idx="10">
                  <c:v>ECU</c:v>
                </c:pt>
                <c:pt idx="11">
                  <c:v>COL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'Impuestos-Subv.'!$C$6:$P$6</c:f>
              <c:numCache>
                <c:formatCode>0.0%</c:formatCode>
                <c:ptCount val="14"/>
                <c:pt idx="0">
                  <c:v>4.3170445164914577E-2</c:v>
                </c:pt>
                <c:pt idx="1">
                  <c:v>0.1431298343183274</c:v>
                </c:pt>
                <c:pt idx="2">
                  <c:v>8.6483674840720767E-2</c:v>
                </c:pt>
                <c:pt idx="3">
                  <c:v>0.15438034214763935</c:v>
                </c:pt>
                <c:pt idx="4">
                  <c:v>0.19153560947430934</c:v>
                </c:pt>
                <c:pt idx="5">
                  <c:v>0.17407633363665315</c:v>
                </c:pt>
                <c:pt idx="6">
                  <c:v>0.18366996132359262</c:v>
                </c:pt>
                <c:pt idx="7">
                  <c:v>0.1821408319068839</c:v>
                </c:pt>
                <c:pt idx="8">
                  <c:v>0.2190933180288448</c:v>
                </c:pt>
                <c:pt idx="9">
                  <c:v>0.16572456346532849</c:v>
                </c:pt>
                <c:pt idx="10">
                  <c:v>0.14628266558682523</c:v>
                </c:pt>
                <c:pt idx="11">
                  <c:v>0.15857793383442145</c:v>
                </c:pt>
                <c:pt idx="12">
                  <c:v>0.23457395188602614</c:v>
                </c:pt>
                <c:pt idx="13">
                  <c:v>0.16021842043188364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771-40B3-AB76-EA54646D0DDE}"/>
            </c:ext>
          </c:extLst>
        </c:ser>
        <c:ser>
          <c:idx val="2"/>
          <c:order val="2"/>
          <c:tx>
            <c:strRef>
              <c:f>'Impuestos-Subv.'!$B$7</c:f>
              <c:strCache>
                <c:ptCount val="1"/>
                <c:pt idx="0">
                  <c:v>No bioeconomía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'Impuestos-Subv.'!$C$4:$P$4</c:f>
              <c:strCache>
                <c:ptCount val="14"/>
                <c:pt idx="0">
                  <c:v>CRI</c:v>
                </c:pt>
                <c:pt idx="1">
                  <c:v>DOM</c:v>
                </c:pt>
                <c:pt idx="2">
                  <c:v>ARG</c:v>
                </c:pt>
                <c:pt idx="3">
                  <c:v>NIC</c:v>
                </c:pt>
                <c:pt idx="4">
                  <c:v>SLV</c:v>
                </c:pt>
                <c:pt idx="5">
                  <c:v>GTM</c:v>
                </c:pt>
                <c:pt idx="6">
                  <c:v>PER</c:v>
                </c:pt>
                <c:pt idx="7">
                  <c:v>CHL</c:v>
                </c:pt>
                <c:pt idx="8">
                  <c:v>HND</c:v>
                </c:pt>
                <c:pt idx="9">
                  <c:v>BRA</c:v>
                </c:pt>
                <c:pt idx="10">
                  <c:v>ECU</c:v>
                </c:pt>
                <c:pt idx="11">
                  <c:v>COL</c:v>
                </c:pt>
                <c:pt idx="12">
                  <c:v>PAN</c:v>
                </c:pt>
                <c:pt idx="13">
                  <c:v>Promedio</c:v>
                </c:pt>
              </c:strCache>
            </c:strRef>
          </c:cat>
          <c:val>
            <c:numRef>
              <c:f>'Impuestos-Subv.'!$C$7:$P$7</c:f>
              <c:numCache>
                <c:formatCode>0.0%</c:formatCode>
                <c:ptCount val="14"/>
                <c:pt idx="0">
                  <c:v>0.62983793011825917</c:v>
                </c:pt>
                <c:pt idx="1">
                  <c:v>0.55033278802449681</c:v>
                </c:pt>
                <c:pt idx="2">
                  <c:v>0.61383285015160527</c:v>
                </c:pt>
                <c:pt idx="3">
                  <c:v>0.55300233415247924</c:v>
                </c:pt>
                <c:pt idx="4">
                  <c:v>0.51837884239673593</c:v>
                </c:pt>
                <c:pt idx="5">
                  <c:v>0.5609669446597374</c:v>
                </c:pt>
                <c:pt idx="6">
                  <c:v>0.56536312849162007</c:v>
                </c:pt>
                <c:pt idx="7">
                  <c:v>0.58022523960013361</c:v>
                </c:pt>
                <c:pt idx="8">
                  <c:v>0.5693959872938843</c:v>
                </c:pt>
                <c:pt idx="9">
                  <c:v>0.62670457234758425</c:v>
                </c:pt>
                <c:pt idx="10">
                  <c:v>0.66799359194746821</c:v>
                </c:pt>
                <c:pt idx="11">
                  <c:v>0.6669775607615076</c:v>
                </c:pt>
                <c:pt idx="12">
                  <c:v>0.6259883725200317</c:v>
                </c:pt>
                <c:pt idx="13">
                  <c:v>0.59453847249734948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771-40B3-AB76-EA54646D0DD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'Tasa Imp.'!$B$5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4.0650406504065045E-3"/>
                  <c:y val="0.3004589920438637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23B-4E41-BAFD-BF584AE05B91}"/>
                </c:ext>
              </c:extLst>
            </c:dLbl>
            <c:dLbl>
              <c:idx val="6"/>
              <c:layout>
                <c:manualLayout>
                  <c:x val="1.3550135501355014E-3"/>
                  <c:y val="0.1758179075493815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23B-4E41-BAFD-BF584AE05B91}"/>
                </c:ext>
              </c:extLst>
            </c:dLbl>
            <c:dLbl>
              <c:idx val="12"/>
              <c:layout>
                <c:manualLayout>
                  <c:x val="-9.9366512452838974E-17"/>
                  <c:y val="0.1177530661322038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23B-4E41-BAFD-BF584AE05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'Tasa Imp.'!$C$4:$P$4</c:f>
              <c:strCache>
                <c:ptCount val="14"/>
                <c:pt idx="0">
                  <c:v>ARG</c:v>
                </c:pt>
                <c:pt idx="1">
                  <c:v>BRA</c:v>
                </c:pt>
                <c:pt idx="2">
                  <c:v>CHL</c:v>
                </c:pt>
                <c:pt idx="3">
                  <c:v>SLV</c:v>
                </c:pt>
                <c:pt idx="4">
                  <c:v>DOM</c:v>
                </c:pt>
                <c:pt idx="5">
                  <c:v>PER</c:v>
                </c:pt>
                <c:pt idx="6">
                  <c:v>COL</c:v>
                </c:pt>
                <c:pt idx="7">
                  <c:v>CRI</c:v>
                </c:pt>
                <c:pt idx="8">
                  <c:v>NIC</c:v>
                </c:pt>
                <c:pt idx="9">
                  <c:v>GTM</c:v>
                </c:pt>
                <c:pt idx="10">
                  <c:v>PAN</c:v>
                </c:pt>
                <c:pt idx="11">
                  <c:v>HND</c:v>
                </c:pt>
                <c:pt idx="12">
                  <c:v>ECU</c:v>
                </c:pt>
                <c:pt idx="13">
                  <c:v>Promedio</c:v>
                </c:pt>
              </c:strCache>
            </c:strRef>
          </c:cat>
          <c:val>
            <c:numRef>
              <c:f>'Tasa Imp.'!$C$5:$P$5</c:f>
              <c:numCache>
                <c:formatCode>0.0%</c:formatCode>
                <c:ptCount val="14"/>
                <c:pt idx="0">
                  <c:v>0.17785243944915566</c:v>
                </c:pt>
                <c:pt idx="1">
                  <c:v>0.11825589254179369</c:v>
                </c:pt>
                <c:pt idx="2">
                  <c:v>0.1139419233931323</c:v>
                </c:pt>
                <c:pt idx="3">
                  <c:v>0.10134858868749588</c:v>
                </c:pt>
                <c:pt idx="4">
                  <c:v>9.9671289146478201E-2</c:v>
                </c:pt>
                <c:pt idx="5">
                  <c:v>8.5478091847966092E-2</c:v>
                </c:pt>
                <c:pt idx="6">
                  <c:v>7.7067386699113366E-2</c:v>
                </c:pt>
                <c:pt idx="7">
                  <c:v>7.5894644424346902E-2</c:v>
                </c:pt>
                <c:pt idx="8">
                  <c:v>4.8102901278318989E-2</c:v>
                </c:pt>
                <c:pt idx="9">
                  <c:v>4.7288633215414627E-2</c:v>
                </c:pt>
                <c:pt idx="10">
                  <c:v>4.5584849106206513E-2</c:v>
                </c:pt>
                <c:pt idx="11">
                  <c:v>4.2945366699474248E-2</c:v>
                </c:pt>
                <c:pt idx="12">
                  <c:v>3.84452133834874E-2</c:v>
                </c:pt>
                <c:pt idx="13">
                  <c:v>8.2452093836337212E-2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23B-4E41-BAFD-BF584AE05B91}"/>
            </c:ext>
          </c:extLst>
        </c:ser>
        <c:ser>
          <c:idx val="1"/>
          <c:order val="1"/>
          <c:tx>
            <c:strRef>
              <c:f>'Tasa Imp.'!$B$6</c:f>
              <c:strCache>
                <c:ptCount val="1"/>
                <c:pt idx="0">
                  <c:v>Bioeconomía extendida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9.485094850948509E-3"/>
                  <c:y val="0.3378160669071085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23B-4E41-BAFD-BF584AE05B91}"/>
                </c:ext>
              </c:extLst>
            </c:dLbl>
            <c:dLbl>
              <c:idx val="5"/>
              <c:layout>
                <c:manualLayout>
                  <c:x val="2.7100271002709528E-3"/>
                  <c:y val="0.1755311862924301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623B-4E41-BAFD-BF584AE05B91}"/>
                </c:ext>
              </c:extLst>
            </c:dLbl>
            <c:dLbl>
              <c:idx val="6"/>
              <c:layout>
                <c:manualLayout>
                  <c:x val="6.7750677506774075E-3"/>
                  <c:y val="0.15006990588834568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23B-4E41-BAFD-BF584AE05B91}"/>
                </c:ext>
              </c:extLst>
            </c:dLbl>
            <c:dLbl>
              <c:idx val="11"/>
              <c:layout>
                <c:manualLayout>
                  <c:x val="0"/>
                  <c:y val="0.10606760605927491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23B-4E41-BAFD-BF584AE05B91}"/>
                </c:ext>
              </c:extLst>
            </c:dLbl>
            <c:dLbl>
              <c:idx val="13"/>
              <c:layout>
                <c:manualLayout>
                  <c:x val="0"/>
                  <c:y val="0.16577357503322179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623B-4E41-BAFD-BF584AE05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'Tasa Imp.'!$C$4:$P$4</c:f>
              <c:strCache>
                <c:ptCount val="14"/>
                <c:pt idx="0">
                  <c:v>ARG</c:v>
                </c:pt>
                <c:pt idx="1">
                  <c:v>BRA</c:v>
                </c:pt>
                <c:pt idx="2">
                  <c:v>CHL</c:v>
                </c:pt>
                <c:pt idx="3">
                  <c:v>SLV</c:v>
                </c:pt>
                <c:pt idx="4">
                  <c:v>DOM</c:v>
                </c:pt>
                <c:pt idx="5">
                  <c:v>PER</c:v>
                </c:pt>
                <c:pt idx="6">
                  <c:v>COL</c:v>
                </c:pt>
                <c:pt idx="7">
                  <c:v>CRI</c:v>
                </c:pt>
                <c:pt idx="8">
                  <c:v>NIC</c:v>
                </c:pt>
                <c:pt idx="9">
                  <c:v>GTM</c:v>
                </c:pt>
                <c:pt idx="10">
                  <c:v>PAN</c:v>
                </c:pt>
                <c:pt idx="11">
                  <c:v>HND</c:v>
                </c:pt>
                <c:pt idx="12">
                  <c:v>ECU</c:v>
                </c:pt>
                <c:pt idx="13">
                  <c:v>Promedio</c:v>
                </c:pt>
              </c:strCache>
            </c:strRef>
          </c:cat>
          <c:val>
            <c:numRef>
              <c:f>'Tasa Imp.'!$C$6:$P$6</c:f>
              <c:numCache>
                <c:formatCode>0.0%</c:formatCode>
                <c:ptCount val="14"/>
                <c:pt idx="0">
                  <c:v>0.17717331631036942</c:v>
                </c:pt>
                <c:pt idx="1">
                  <c:v>0.16874691090907973</c:v>
                </c:pt>
                <c:pt idx="2">
                  <c:v>0.16246071716998192</c:v>
                </c:pt>
                <c:pt idx="3">
                  <c:v>8.685151695146584E-2</c:v>
                </c:pt>
                <c:pt idx="4">
                  <c:v>4.4653524340162884E-2</c:v>
                </c:pt>
                <c:pt idx="5">
                  <c:v>9.8601947123148612E-2</c:v>
                </c:pt>
                <c:pt idx="6">
                  <c:v>7.8121030298116165E-2</c:v>
                </c:pt>
                <c:pt idx="7">
                  <c:v>1.7233503773197517E-2</c:v>
                </c:pt>
                <c:pt idx="8">
                  <c:v>7.0857530711773628E-2</c:v>
                </c:pt>
                <c:pt idx="9">
                  <c:v>6.8167290246529247E-2</c:v>
                </c:pt>
                <c:pt idx="10">
                  <c:v>8.908269046041592E-2</c:v>
                </c:pt>
                <c:pt idx="11">
                  <c:v>5.4723361980389351E-2</c:v>
                </c:pt>
                <c:pt idx="12">
                  <c:v>6.6363991852855145E-2</c:v>
                </c:pt>
                <c:pt idx="13">
                  <c:v>9.1002871702114241E-2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23B-4E41-BAFD-BF584AE05B91}"/>
            </c:ext>
          </c:extLst>
        </c:ser>
        <c:ser>
          <c:idx val="2"/>
          <c:order val="2"/>
          <c:tx>
            <c:strRef>
              <c:f>'Tasa Imp.'!$B$7</c:f>
              <c:strCache>
                <c:ptCount val="1"/>
                <c:pt idx="0">
                  <c:v>No bioeconomía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8"/>
              <c:layout>
                <c:manualLayout>
                  <c:x val="5.4200542005420054E-3"/>
                  <c:y val="0.11529526987827644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623B-4E41-BAFD-BF584AE05B91}"/>
                </c:ext>
              </c:extLst>
            </c:dLbl>
            <c:dLbl>
              <c:idx val="11"/>
              <c:layout>
                <c:manualLayout>
                  <c:x val="-9.9366512452838974E-17"/>
                  <c:y val="0.1478518735232502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23B-4E41-BAFD-BF584AE05B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'Tasa Imp.'!$C$4:$P$4</c:f>
              <c:strCache>
                <c:ptCount val="14"/>
                <c:pt idx="0">
                  <c:v>ARG</c:v>
                </c:pt>
                <c:pt idx="1">
                  <c:v>BRA</c:v>
                </c:pt>
                <c:pt idx="2">
                  <c:v>CHL</c:v>
                </c:pt>
                <c:pt idx="3">
                  <c:v>SLV</c:v>
                </c:pt>
                <c:pt idx="4">
                  <c:v>DOM</c:v>
                </c:pt>
                <c:pt idx="5">
                  <c:v>PER</c:v>
                </c:pt>
                <c:pt idx="6">
                  <c:v>COL</c:v>
                </c:pt>
                <c:pt idx="7">
                  <c:v>CRI</c:v>
                </c:pt>
                <c:pt idx="8">
                  <c:v>NIC</c:v>
                </c:pt>
                <c:pt idx="9">
                  <c:v>GTM</c:v>
                </c:pt>
                <c:pt idx="10">
                  <c:v>PAN</c:v>
                </c:pt>
                <c:pt idx="11">
                  <c:v>HND</c:v>
                </c:pt>
                <c:pt idx="12">
                  <c:v>ECU</c:v>
                </c:pt>
                <c:pt idx="13">
                  <c:v>Promedio</c:v>
                </c:pt>
              </c:strCache>
            </c:strRef>
          </c:cat>
          <c:val>
            <c:numRef>
              <c:f>'Tasa Imp.'!$C$7:$P$7</c:f>
              <c:numCache>
                <c:formatCode>0.0%</c:formatCode>
                <c:ptCount val="14"/>
                <c:pt idx="0">
                  <c:v>7.3216467973163668E-2</c:v>
                </c:pt>
                <c:pt idx="1">
                  <c:v>6.6974047545813861E-2</c:v>
                </c:pt>
                <c:pt idx="2">
                  <c:v>4.0949957060931262E-2</c:v>
                </c:pt>
                <c:pt idx="3">
                  <c:v>4.3699821839383805E-2</c:v>
                </c:pt>
                <c:pt idx="4">
                  <c:v>3.7797157985430964E-2</c:v>
                </c:pt>
                <c:pt idx="5">
                  <c:v>3.4173097283711519E-2</c:v>
                </c:pt>
                <c:pt idx="6">
                  <c:v>4.5307402358206128E-2</c:v>
                </c:pt>
                <c:pt idx="7">
                  <c:v>4.1163158017878017E-2</c:v>
                </c:pt>
                <c:pt idx="8">
                  <c:v>4.3631455543435609E-2</c:v>
                </c:pt>
                <c:pt idx="9">
                  <c:v>3.1485887268537988E-2</c:v>
                </c:pt>
                <c:pt idx="10">
                  <c:v>2.9852456911830007E-2</c:v>
                </c:pt>
                <c:pt idx="11">
                  <c:v>5.3394604881456691E-2</c:v>
                </c:pt>
                <c:pt idx="12">
                  <c:v>4.0801785919538973E-2</c:v>
                </c:pt>
                <c:pt idx="13">
                  <c:v>4.4803638506870649E-2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23B-4E41-BAFD-BF584AE05B9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1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Consumo Final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1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'Consumo Final'!$B$5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'Consumo Final'!$C$4:$P$4</c:f>
              <c:strCache>
                <c:ptCount val="14"/>
                <c:pt idx="0">
                  <c:v>CRI</c:v>
                </c:pt>
                <c:pt idx="1">
                  <c:v>GTM</c:v>
                </c:pt>
                <c:pt idx="2">
                  <c:v>HND</c:v>
                </c:pt>
                <c:pt idx="3">
                  <c:v>NIC</c:v>
                </c:pt>
                <c:pt idx="4">
                  <c:v>DOM</c:v>
                </c:pt>
                <c:pt idx="5">
                  <c:v>SLV</c:v>
                </c:pt>
                <c:pt idx="6">
                  <c:v>ECU</c:v>
                </c:pt>
                <c:pt idx="7">
                  <c:v>ARG</c:v>
                </c:pt>
                <c:pt idx="8">
                  <c:v>PER</c:v>
                </c:pt>
                <c:pt idx="9">
                  <c:v>PAN</c:v>
                </c:pt>
                <c:pt idx="10">
                  <c:v>BRA</c:v>
                </c:pt>
                <c:pt idx="11">
                  <c:v>COL</c:v>
                </c:pt>
                <c:pt idx="12">
                  <c:v>CHL</c:v>
                </c:pt>
                <c:pt idx="13">
                  <c:v>Promedio</c:v>
                </c:pt>
              </c:strCache>
            </c:strRef>
          </c:cat>
          <c:val>
            <c:numRef>
              <c:f>'Consumo Final'!$C$5:$P$5</c:f>
              <c:numCache>
                <c:formatCode>0.0%</c:formatCode>
                <c:ptCount val="14"/>
                <c:pt idx="0">
                  <c:v>0.36358305622395587</c:v>
                </c:pt>
                <c:pt idx="1">
                  <c:v>0.33427127124162054</c:v>
                </c:pt>
                <c:pt idx="2">
                  <c:v>0.3171542330809714</c:v>
                </c:pt>
                <c:pt idx="3">
                  <c:v>0.30183808145098767</c:v>
                </c:pt>
                <c:pt idx="4">
                  <c:v>0.28289716908833451</c:v>
                </c:pt>
                <c:pt idx="5">
                  <c:v>0.28190745380652787</c:v>
                </c:pt>
                <c:pt idx="6">
                  <c:v>0.22142261216863207</c:v>
                </c:pt>
                <c:pt idx="7">
                  <c:v>0.20293307521984552</c:v>
                </c:pt>
                <c:pt idx="8">
                  <c:v>0.20066676742263276</c:v>
                </c:pt>
                <c:pt idx="9">
                  <c:v>0.18916574096143426</c:v>
                </c:pt>
                <c:pt idx="10">
                  <c:v>0.18876008758496177</c:v>
                </c:pt>
                <c:pt idx="11">
                  <c:v>0.18541951698923531</c:v>
                </c:pt>
                <c:pt idx="12">
                  <c:v>0.18215756097266914</c:v>
                </c:pt>
                <c:pt idx="13">
                  <c:v>0.25016743278552378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E7-4EE3-906B-E0716F435D04}"/>
            </c:ext>
          </c:extLst>
        </c:ser>
        <c:ser>
          <c:idx val="1"/>
          <c:order val="1"/>
          <c:tx>
            <c:strRef>
              <c:f>'Consumo Final'!$B$6</c:f>
              <c:strCache>
                <c:ptCount val="1"/>
                <c:pt idx="0">
                  <c:v>Bioeconomía extendida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'Consumo Final'!$C$4:$P$4</c:f>
              <c:strCache>
                <c:ptCount val="14"/>
                <c:pt idx="0">
                  <c:v>CRI</c:v>
                </c:pt>
                <c:pt idx="1">
                  <c:v>GTM</c:v>
                </c:pt>
                <c:pt idx="2">
                  <c:v>HND</c:v>
                </c:pt>
                <c:pt idx="3">
                  <c:v>NIC</c:v>
                </c:pt>
                <c:pt idx="4">
                  <c:v>DOM</c:v>
                </c:pt>
                <c:pt idx="5">
                  <c:v>SLV</c:v>
                </c:pt>
                <c:pt idx="6">
                  <c:v>ECU</c:v>
                </c:pt>
                <c:pt idx="7">
                  <c:v>ARG</c:v>
                </c:pt>
                <c:pt idx="8">
                  <c:v>PER</c:v>
                </c:pt>
                <c:pt idx="9">
                  <c:v>PAN</c:v>
                </c:pt>
                <c:pt idx="10">
                  <c:v>BRA</c:v>
                </c:pt>
                <c:pt idx="11">
                  <c:v>COL</c:v>
                </c:pt>
                <c:pt idx="12">
                  <c:v>CHL</c:v>
                </c:pt>
                <c:pt idx="13">
                  <c:v>Promedio</c:v>
                </c:pt>
              </c:strCache>
            </c:strRef>
          </c:cat>
          <c:val>
            <c:numRef>
              <c:f>'Consumo Final'!$C$6:$P$6</c:f>
              <c:numCache>
                <c:formatCode>0.0%</c:formatCode>
                <c:ptCount val="14"/>
                <c:pt idx="0">
                  <c:v>3.3880595440764848E-2</c:v>
                </c:pt>
                <c:pt idx="1">
                  <c:v>0.15344708512415273</c:v>
                </c:pt>
                <c:pt idx="2">
                  <c:v>0.17486514798658379</c:v>
                </c:pt>
                <c:pt idx="3">
                  <c:v>0.17761190955856976</c:v>
                </c:pt>
                <c:pt idx="4">
                  <c:v>0.12608442946352569</c:v>
                </c:pt>
                <c:pt idx="5">
                  <c:v>0.15873181314132509</c:v>
                </c:pt>
                <c:pt idx="6">
                  <c:v>0.11501854706977289</c:v>
                </c:pt>
                <c:pt idx="7">
                  <c:v>7.316460984626795E-2</c:v>
                </c:pt>
                <c:pt idx="8">
                  <c:v>0.17660979881404301</c:v>
                </c:pt>
                <c:pt idx="9">
                  <c:v>0.23901683689823836</c:v>
                </c:pt>
                <c:pt idx="10">
                  <c:v>0.13599337487103585</c:v>
                </c:pt>
                <c:pt idx="11">
                  <c:v>0.16648226670172891</c:v>
                </c:pt>
                <c:pt idx="12">
                  <c:v>0.14734824482724546</c:v>
                </c:pt>
                <c:pt idx="13">
                  <c:v>0.14448112767255802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7E7-4EE3-906B-E0716F435D04}"/>
            </c:ext>
          </c:extLst>
        </c:ser>
        <c:ser>
          <c:idx val="2"/>
          <c:order val="2"/>
          <c:tx>
            <c:strRef>
              <c:f>'Consumo Final'!$B$7</c:f>
              <c:strCache>
                <c:ptCount val="1"/>
                <c:pt idx="0">
                  <c:v>No bioeconomía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'Consumo Final'!$C$4:$P$4</c:f>
              <c:strCache>
                <c:ptCount val="14"/>
                <c:pt idx="0">
                  <c:v>CRI</c:v>
                </c:pt>
                <c:pt idx="1">
                  <c:v>GTM</c:v>
                </c:pt>
                <c:pt idx="2">
                  <c:v>HND</c:v>
                </c:pt>
                <c:pt idx="3">
                  <c:v>NIC</c:v>
                </c:pt>
                <c:pt idx="4">
                  <c:v>DOM</c:v>
                </c:pt>
                <c:pt idx="5">
                  <c:v>SLV</c:v>
                </c:pt>
                <c:pt idx="6">
                  <c:v>ECU</c:v>
                </c:pt>
                <c:pt idx="7">
                  <c:v>ARG</c:v>
                </c:pt>
                <c:pt idx="8">
                  <c:v>PER</c:v>
                </c:pt>
                <c:pt idx="9">
                  <c:v>PAN</c:v>
                </c:pt>
                <c:pt idx="10">
                  <c:v>BRA</c:v>
                </c:pt>
                <c:pt idx="11">
                  <c:v>COL</c:v>
                </c:pt>
                <c:pt idx="12">
                  <c:v>CHL</c:v>
                </c:pt>
                <c:pt idx="13">
                  <c:v>Promedio</c:v>
                </c:pt>
              </c:strCache>
            </c:strRef>
          </c:cat>
          <c:val>
            <c:numRef>
              <c:f>'Consumo Final'!$C$7:$P$7</c:f>
              <c:numCache>
                <c:formatCode>0.0%</c:formatCode>
                <c:ptCount val="14"/>
                <c:pt idx="0">
                  <c:v>0.60253634833527936</c:v>
                </c:pt>
                <c:pt idx="1">
                  <c:v>0.5298248742462659</c:v>
                </c:pt>
                <c:pt idx="2">
                  <c:v>0.50344542251536639</c:v>
                </c:pt>
                <c:pt idx="3">
                  <c:v>0.53258333553275494</c:v>
                </c:pt>
                <c:pt idx="4">
                  <c:v>0.59993248303022517</c:v>
                </c:pt>
                <c:pt idx="5">
                  <c:v>0.55766718962605</c:v>
                </c:pt>
                <c:pt idx="6">
                  <c:v>0.66355884076159499</c:v>
                </c:pt>
                <c:pt idx="7">
                  <c:v>0.72467774989812339</c:v>
                </c:pt>
                <c:pt idx="8">
                  <c:v>0.62272343376332429</c:v>
                </c:pt>
                <c:pt idx="9">
                  <c:v>0.63921866077816547</c:v>
                </c:pt>
                <c:pt idx="10">
                  <c:v>0.67524653754400243</c:v>
                </c:pt>
                <c:pt idx="11">
                  <c:v>0.64196757388217873</c:v>
                </c:pt>
                <c:pt idx="12">
                  <c:v>0.67049419420008538</c:v>
                </c:pt>
                <c:pt idx="13">
                  <c:v>0.61260589570103197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7E7-4EE3-906B-E0716F435D04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 b="1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FBK!$B$5</c:f>
              <c:strCache>
                <c:ptCount val="1"/>
                <c:pt idx="0">
                  <c:v>Bioeconomía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200" b="0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FBK!$C$4:$P$4</c:f>
              <c:strCache>
                <c:ptCount val="14"/>
                <c:pt idx="0">
                  <c:v>NIC</c:v>
                </c:pt>
                <c:pt idx="1">
                  <c:v>HND</c:v>
                </c:pt>
                <c:pt idx="2">
                  <c:v>ECU</c:v>
                </c:pt>
                <c:pt idx="3">
                  <c:v>PER</c:v>
                </c:pt>
                <c:pt idx="4">
                  <c:v>SLV</c:v>
                </c:pt>
                <c:pt idx="5">
                  <c:v>CRI</c:v>
                </c:pt>
                <c:pt idx="6">
                  <c:v>COL</c:v>
                </c:pt>
                <c:pt idx="7">
                  <c:v>GTM</c:v>
                </c:pt>
                <c:pt idx="8">
                  <c:v>CHL</c:v>
                </c:pt>
                <c:pt idx="9">
                  <c:v>PAN</c:v>
                </c:pt>
                <c:pt idx="10">
                  <c:v>DOM</c:v>
                </c:pt>
                <c:pt idx="11">
                  <c:v>ARG</c:v>
                </c:pt>
                <c:pt idx="12">
                  <c:v>BRA</c:v>
                </c:pt>
                <c:pt idx="13">
                  <c:v>Promedio</c:v>
                </c:pt>
              </c:strCache>
            </c:strRef>
          </c:cat>
          <c:val>
            <c:numRef>
              <c:f>FBK!$C$5:$P$5</c:f>
              <c:numCache>
                <c:formatCode>0.0%</c:formatCode>
                <c:ptCount val="14"/>
                <c:pt idx="0">
                  <c:v>0.12637341652421918</c:v>
                </c:pt>
                <c:pt idx="1">
                  <c:v>9.7729895358786692E-2</c:v>
                </c:pt>
                <c:pt idx="2">
                  <c:v>5.5401286452657836E-2</c:v>
                </c:pt>
                <c:pt idx="3">
                  <c:v>5.1940489521676535E-2</c:v>
                </c:pt>
                <c:pt idx="4">
                  <c:v>3.2207386395163184E-2</c:v>
                </c:pt>
                <c:pt idx="5">
                  <c:v>2.9890205964842619E-2</c:v>
                </c:pt>
                <c:pt idx="6">
                  <c:v>2.7989129136874482E-2</c:v>
                </c:pt>
                <c:pt idx="7">
                  <c:v>2.5857605962803204E-2</c:v>
                </c:pt>
                <c:pt idx="8">
                  <c:v>1.0715533744601014E-2</c:v>
                </c:pt>
                <c:pt idx="9">
                  <c:v>1.0679440401366438E-2</c:v>
                </c:pt>
                <c:pt idx="10">
                  <c:v>1.0295670791325658E-2</c:v>
                </c:pt>
                <c:pt idx="11">
                  <c:v>0</c:v>
                </c:pt>
                <c:pt idx="12">
                  <c:v>0</c:v>
                </c:pt>
                <c:pt idx="13">
                  <c:v>3.6852312327255138E-2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4F-4F1E-A717-1044D30F0CB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962109855"/>
        <c:axId val="1962111103"/>
      </c:barChart>
      <c:catAx>
        <c:axId val="19621098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11103"/>
        <c:crosses val="autoZero"/>
        <c:auto val="1"/>
        <c:lblAlgn val="ctr"/>
        <c:lblOffset val="100"/>
        <c:noMultiLvlLbl val="0"/>
      </c:catAx>
      <c:valAx>
        <c:axId val="196211110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62109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>
          <a:solidFill>
            <a:sysClr val="windowText" lastClr="000000"/>
          </a:solidFill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F03D05A-932B-470F-BD54-71BC9E9BA636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77ADC1-81AA-490B-83C2-699008D548CC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Sistema de Cuentas Nacionales</a:t>
          </a:r>
        </a:p>
      </dgm:t>
    </dgm:pt>
    <dgm:pt modelId="{4F6CDDD1-F275-440B-A968-4D22D109BF8E}" type="parTrans" cxnId="{DE6B8F2A-BAF9-4F78-B1FC-E743AF5316E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2A55A2E3-BCCF-4DF5-B03C-197716348949}" type="sibTrans" cxnId="{DE6B8F2A-BAF9-4F78-B1FC-E743AF5316E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B8C1A55-FD0A-47E6-BA3C-BA58AD404A61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Desempeño económico</a:t>
          </a:r>
        </a:p>
      </dgm:t>
    </dgm:pt>
    <dgm:pt modelId="{8F646718-6F0A-4CF1-BCEB-85AA2B51D9D8}" type="parTrans" cxnId="{B6172B0C-7714-4B27-8853-EFE99986412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58377E9-7A4C-4C34-BEFC-BDB389D9E582}" type="sibTrans" cxnId="{B6172B0C-7714-4B27-8853-EFE99986412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78991B9-2E33-4E91-A5ED-E29FB4774BEC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Cuentas Satélite</a:t>
          </a:r>
        </a:p>
      </dgm:t>
    </dgm:pt>
    <dgm:pt modelId="{C50B8D62-2980-4205-88E0-AE8EDEC615C9}" type="parTrans" cxnId="{312D45E3-9842-4776-92C2-456BD5392C7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260ADF6-20B0-4273-9E7D-C47B05502C79}" type="sibTrans" cxnId="{312D45E3-9842-4776-92C2-456BD5392C79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8DBF588-9B98-4409-AE86-2482F53B5CFF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Extienden el alcance del Sistema de Cuentas Nacionales.</a:t>
          </a:r>
        </a:p>
      </dgm:t>
    </dgm:pt>
    <dgm:pt modelId="{6BFDF16D-D0FC-4180-9447-5F33A7952D76}" type="parTrans" cxnId="{01925AF2-DBF2-4BFD-A498-3FB9A03FE07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1827B8A-8B38-47C3-ABD8-B72933FCD543}" type="sibTrans" cxnId="{01925AF2-DBF2-4BFD-A498-3FB9A03FE07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5B12B3C-1E56-4F93-A90E-85928ED9744C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La producción.</a:t>
          </a:r>
        </a:p>
      </dgm:t>
    </dgm:pt>
    <dgm:pt modelId="{1C5B98C6-5E14-4708-B0F3-E5A823600608}" type="parTrans" cxnId="{527AA074-E163-448D-85E3-7DDCD620D27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6CF21775-D702-41F9-99E6-B448D182E1A2}" type="sibTrans" cxnId="{527AA074-E163-448D-85E3-7DDCD620D276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CF611D99-1348-40F5-AC81-6B5560B60060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El consumo.</a:t>
          </a:r>
        </a:p>
      </dgm:t>
    </dgm:pt>
    <dgm:pt modelId="{FCAF30DB-BF0F-4C04-B496-8D392CA2345F}" type="parTrans" cxnId="{1868D441-9091-4FDF-A31D-E7303E5F50E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7792E31-61C4-48E6-AAE9-4345ECD4E7F9}" type="sibTrans" cxnId="{1868D441-9091-4FDF-A31D-E7303E5F50ED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D571EA10-E13F-4D50-853E-09B232980199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La distribución del ingreso.</a:t>
          </a:r>
        </a:p>
      </dgm:t>
    </dgm:pt>
    <dgm:pt modelId="{C00274EA-4420-462D-A0C3-2BD3C38C6ECE}" type="parTrans" cxnId="{F398C5EC-A228-4A3C-B8B3-5ADECE35A07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F7D21FFB-839F-474C-9C47-B3A30A678B36}" type="sibTrans" cxnId="{F398C5EC-A228-4A3C-B8B3-5ADECE35A07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0C8453C-737A-4C21-8D18-0EF4C5E79BDE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El beneficio anual de las actividades económicas.</a:t>
          </a:r>
        </a:p>
      </dgm:t>
    </dgm:pt>
    <dgm:pt modelId="{286D01CC-5A2A-404A-A05C-11F01508348C}" type="parTrans" cxnId="{34414678-C617-44EE-B070-56DEE30558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5DC9B21-5BD6-4A93-A5C4-92501A724EEA}" type="sibTrans" cxnId="{34414678-C617-44EE-B070-56DEE305580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FE8DFC4-C304-4A1B-9F75-13970696AD6E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Tiene reglas estrictas contables, definiciones y clasificaciones.</a:t>
          </a:r>
        </a:p>
      </dgm:t>
    </dgm:pt>
    <dgm:pt modelId="{E967E4AE-8CB1-4DF0-8BA3-51331FFD32BE}" type="parTrans" cxnId="{F1F3B7FA-96DD-48A6-BC23-3876D35B698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856E235-441B-48EB-B7D0-DC767AA32309}" type="sibTrans" cxnId="{F1F3B7FA-96DD-48A6-BC23-3876D35B6984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5A6B473-7A6D-43C3-8DE2-D616A0007670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Hacen un acercamiento y aislan un tema en particular para revelar su valor.</a:t>
          </a:r>
        </a:p>
      </dgm:t>
    </dgm:pt>
    <dgm:pt modelId="{6757F456-E45B-4C25-8EAD-DD7F97A78BC6}" type="parTrans" cxnId="{781137BF-81FB-467C-B75A-462A84B0A7F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5DD6CAE9-37CC-473B-92B3-A420385BF9CC}" type="sibTrans" cxnId="{781137BF-81FB-467C-B75A-462A84B0A7F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FFC16A5-3EA1-486D-82F3-A0AA8EC60244}">
      <dgm:prSet phldrT="[Text]"/>
      <dgm:spPr/>
      <dgm:t>
        <a:bodyPr/>
        <a:lstStyle/>
        <a:p>
          <a:r>
            <a:rPr lang="en-US">
              <a:solidFill>
                <a:schemeClr val="tx1"/>
              </a:solidFill>
            </a:rPr>
            <a:t>Usan información complementaria pero compatible con el SCN (física por ejemplo).</a:t>
          </a:r>
        </a:p>
      </dgm:t>
    </dgm:pt>
    <dgm:pt modelId="{2F555D94-BEF7-4F9A-A199-B87522C386FF}" type="parTrans" cxnId="{1A5BFFB6-DC89-4238-AC7F-ADF740C3930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40889F6-3F8F-453B-B9C9-145B074A4886}" type="sibTrans" cxnId="{1A5BFFB6-DC89-4238-AC7F-ADF740C3930C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7E47B974-5CB8-4CA6-800C-733C960F4F4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</a:rPr>
            <a:t>En </a:t>
          </a:r>
          <a:r>
            <a:rPr lang="en-US" dirty="0" err="1">
              <a:solidFill>
                <a:schemeClr val="tx1"/>
              </a:solidFill>
            </a:rPr>
            <a:t>algunos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casos</a:t>
          </a:r>
          <a:r>
            <a:rPr lang="en-US" dirty="0">
              <a:solidFill>
                <a:schemeClr val="tx1"/>
              </a:solidFill>
            </a:rPr>
            <a:t>, </a:t>
          </a:r>
          <a:r>
            <a:rPr lang="en-US" dirty="0" err="1">
              <a:solidFill>
                <a:schemeClr val="tx1"/>
              </a:solidFill>
            </a:rPr>
            <a:t>modifican</a:t>
          </a:r>
          <a:r>
            <a:rPr lang="en-US" dirty="0">
              <a:solidFill>
                <a:schemeClr val="tx1"/>
              </a:solidFill>
            </a:rPr>
            <a:t> </a:t>
          </a:r>
          <a:r>
            <a:rPr lang="en-US" dirty="0" err="1">
              <a:solidFill>
                <a:schemeClr val="tx1"/>
              </a:solidFill>
            </a:rPr>
            <a:t>definiciones</a:t>
          </a:r>
          <a:r>
            <a:rPr lang="en-US" dirty="0">
              <a:solidFill>
                <a:schemeClr val="tx1"/>
              </a:solidFill>
            </a:rPr>
            <a:t>. </a:t>
          </a:r>
        </a:p>
      </dgm:t>
    </dgm:pt>
    <dgm:pt modelId="{57E81CC1-4F75-4C90-9C17-E394DF091C22}" type="parTrans" cxnId="{A8723CA2-7AD1-4A07-BECB-EB16F749D1C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E57E9C53-C772-4A44-A91C-D4B872E74C99}" type="sibTrans" cxnId="{A8723CA2-7AD1-4A07-BECB-EB16F749D1C0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40451690-BACE-47A3-85D4-E329678F37A2}" type="pres">
      <dgm:prSet presAssocID="{DF03D05A-932B-470F-BD54-71BC9E9BA636}" presName="diagram" presStyleCnt="0">
        <dgm:presLayoutVars>
          <dgm:dir/>
          <dgm:resizeHandles val="exact"/>
        </dgm:presLayoutVars>
      </dgm:prSet>
      <dgm:spPr/>
    </dgm:pt>
    <dgm:pt modelId="{17972298-F478-4550-B7DF-88699DF7755F}" type="pres">
      <dgm:prSet presAssocID="{9877ADC1-81AA-490B-83C2-699008D548CC}" presName="node" presStyleLbl="node1" presStyleIdx="0" presStyleCnt="2">
        <dgm:presLayoutVars>
          <dgm:bulletEnabled val="1"/>
        </dgm:presLayoutVars>
      </dgm:prSet>
      <dgm:spPr/>
    </dgm:pt>
    <dgm:pt modelId="{7975025A-1AEE-49C1-9AC1-31426EF1FDF1}" type="pres">
      <dgm:prSet presAssocID="{2A55A2E3-BCCF-4DF5-B03C-197716348949}" presName="sibTrans" presStyleCnt="0"/>
      <dgm:spPr/>
    </dgm:pt>
    <dgm:pt modelId="{C4D4CC04-A2BB-424B-B928-DFB52B22367E}" type="pres">
      <dgm:prSet presAssocID="{678991B9-2E33-4E91-A5ED-E29FB4774BEC}" presName="node" presStyleLbl="node1" presStyleIdx="1" presStyleCnt="2">
        <dgm:presLayoutVars>
          <dgm:bulletEnabled val="1"/>
        </dgm:presLayoutVars>
      </dgm:prSet>
      <dgm:spPr/>
    </dgm:pt>
  </dgm:ptLst>
  <dgm:cxnLst>
    <dgm:cxn modelId="{B6172B0C-7714-4B27-8853-EFE99986412D}" srcId="{9877ADC1-81AA-490B-83C2-699008D548CC}" destId="{8B8C1A55-FD0A-47E6-BA3C-BA58AD404A61}" srcOrd="0" destOrd="0" parTransId="{8F646718-6F0A-4CF1-BCEB-85AA2B51D9D8}" sibTransId="{758377E9-7A4C-4C34-BEFC-BDB389D9E582}"/>
    <dgm:cxn modelId="{7BFFDC14-1162-4DF4-B12B-1D5855EA8505}" type="presOf" srcId="{75B12B3C-1E56-4F93-A90E-85928ED9744C}" destId="{17972298-F478-4550-B7DF-88699DF7755F}" srcOrd="0" destOrd="2" presId="urn:microsoft.com/office/officeart/2005/8/layout/default"/>
    <dgm:cxn modelId="{CA47AF29-1C14-439A-9642-19315197C4FD}" type="presOf" srcId="{8B8C1A55-FD0A-47E6-BA3C-BA58AD404A61}" destId="{17972298-F478-4550-B7DF-88699DF7755F}" srcOrd="0" destOrd="1" presId="urn:microsoft.com/office/officeart/2005/8/layout/default"/>
    <dgm:cxn modelId="{DE6B8F2A-BAF9-4F78-B1FC-E743AF5316EC}" srcId="{DF03D05A-932B-470F-BD54-71BC9E9BA636}" destId="{9877ADC1-81AA-490B-83C2-699008D548CC}" srcOrd="0" destOrd="0" parTransId="{4F6CDDD1-F275-440B-A968-4D22D109BF8E}" sibTransId="{2A55A2E3-BCCF-4DF5-B03C-197716348949}"/>
    <dgm:cxn modelId="{069B0734-0464-4592-BD84-AFD9582114F5}" type="presOf" srcId="{D571EA10-E13F-4D50-853E-09B232980199}" destId="{17972298-F478-4550-B7DF-88699DF7755F}" srcOrd="0" destOrd="4" presId="urn:microsoft.com/office/officeart/2005/8/layout/default"/>
    <dgm:cxn modelId="{107CA239-7AA2-49B0-B340-5E4EE3A07FD9}" type="presOf" srcId="{678991B9-2E33-4E91-A5ED-E29FB4774BEC}" destId="{C4D4CC04-A2BB-424B-B928-DFB52B22367E}" srcOrd="0" destOrd="0" presId="urn:microsoft.com/office/officeart/2005/8/layout/default"/>
    <dgm:cxn modelId="{DD72AF5C-A2D9-4623-B3D0-30BD01B46F22}" type="presOf" srcId="{1FE8DFC4-C304-4A1B-9F75-13970696AD6E}" destId="{17972298-F478-4550-B7DF-88699DF7755F}" srcOrd="0" destOrd="6" presId="urn:microsoft.com/office/officeart/2005/8/layout/default"/>
    <dgm:cxn modelId="{1868D441-9091-4FDF-A31D-E7303E5F50ED}" srcId="{9877ADC1-81AA-490B-83C2-699008D548CC}" destId="{CF611D99-1348-40F5-AC81-6B5560B60060}" srcOrd="2" destOrd="0" parTransId="{FCAF30DB-BF0F-4C04-B496-8D392CA2345F}" sibTransId="{57792E31-61C4-48E6-AAE9-4345ECD4E7F9}"/>
    <dgm:cxn modelId="{46E8CD67-30A9-4A5A-8554-AE300F979DBE}" type="presOf" srcId="{7E47B974-5CB8-4CA6-800C-733C960F4F49}" destId="{C4D4CC04-A2BB-424B-B928-DFB52B22367E}" srcOrd="0" destOrd="4" presId="urn:microsoft.com/office/officeart/2005/8/layout/default"/>
    <dgm:cxn modelId="{8C44884D-B404-4E1D-BC06-0939678C0D02}" type="presOf" srcId="{75A6B473-7A6D-43C3-8DE2-D616A0007670}" destId="{C4D4CC04-A2BB-424B-B928-DFB52B22367E}" srcOrd="0" destOrd="2" presId="urn:microsoft.com/office/officeart/2005/8/layout/default"/>
    <dgm:cxn modelId="{527AA074-E163-448D-85E3-7DDCD620D276}" srcId="{9877ADC1-81AA-490B-83C2-699008D548CC}" destId="{75B12B3C-1E56-4F93-A90E-85928ED9744C}" srcOrd="1" destOrd="0" parTransId="{1C5B98C6-5E14-4708-B0F3-E5A823600608}" sibTransId="{6CF21775-D702-41F9-99E6-B448D182E1A2}"/>
    <dgm:cxn modelId="{34414678-C617-44EE-B070-56DEE3055803}" srcId="{9877ADC1-81AA-490B-83C2-699008D548CC}" destId="{50C8453C-737A-4C21-8D18-0EF4C5E79BDE}" srcOrd="4" destOrd="0" parTransId="{286D01CC-5A2A-404A-A05C-11F01508348C}" sibTransId="{05DC9B21-5BD6-4A93-A5C4-92501A724EEA}"/>
    <dgm:cxn modelId="{F626B19D-8888-4086-B64D-35BE7DEBCD6D}" type="presOf" srcId="{50C8453C-737A-4C21-8D18-0EF4C5E79BDE}" destId="{17972298-F478-4550-B7DF-88699DF7755F}" srcOrd="0" destOrd="5" presId="urn:microsoft.com/office/officeart/2005/8/layout/default"/>
    <dgm:cxn modelId="{A8723CA2-7AD1-4A07-BECB-EB16F749D1C0}" srcId="{678991B9-2E33-4E91-A5ED-E29FB4774BEC}" destId="{7E47B974-5CB8-4CA6-800C-733C960F4F49}" srcOrd="3" destOrd="0" parTransId="{57E81CC1-4F75-4C90-9C17-E394DF091C22}" sibTransId="{E57E9C53-C772-4A44-A91C-D4B872E74C99}"/>
    <dgm:cxn modelId="{1A5BFFB6-DC89-4238-AC7F-ADF740C3930C}" srcId="{678991B9-2E33-4E91-A5ED-E29FB4774BEC}" destId="{EFFC16A5-3EA1-486D-82F3-A0AA8EC60244}" srcOrd="2" destOrd="0" parTransId="{2F555D94-BEF7-4F9A-A199-B87522C386FF}" sibTransId="{940889F6-3F8F-453B-B9C9-145B074A4886}"/>
    <dgm:cxn modelId="{781137BF-81FB-467C-B75A-462A84B0A7FE}" srcId="{678991B9-2E33-4E91-A5ED-E29FB4774BEC}" destId="{75A6B473-7A6D-43C3-8DE2-D616A0007670}" srcOrd="1" destOrd="0" parTransId="{6757F456-E45B-4C25-8EAD-DD7F97A78BC6}" sibTransId="{5DD6CAE9-37CC-473B-92B3-A420385BF9CC}"/>
    <dgm:cxn modelId="{F489BDCA-0692-4A5B-A3BD-812217687FDC}" type="presOf" srcId="{CF611D99-1348-40F5-AC81-6B5560B60060}" destId="{17972298-F478-4550-B7DF-88699DF7755F}" srcOrd="0" destOrd="3" presId="urn:microsoft.com/office/officeart/2005/8/layout/default"/>
    <dgm:cxn modelId="{4D97ADD4-D9F5-4CF8-B30C-AC47A913A784}" type="presOf" srcId="{9877ADC1-81AA-490B-83C2-699008D548CC}" destId="{17972298-F478-4550-B7DF-88699DF7755F}" srcOrd="0" destOrd="0" presId="urn:microsoft.com/office/officeart/2005/8/layout/default"/>
    <dgm:cxn modelId="{F968FEE0-951D-4AED-A4BC-7B865E51711A}" type="presOf" srcId="{E8DBF588-9B98-4409-AE86-2482F53B5CFF}" destId="{C4D4CC04-A2BB-424B-B928-DFB52B22367E}" srcOrd="0" destOrd="1" presId="urn:microsoft.com/office/officeart/2005/8/layout/default"/>
    <dgm:cxn modelId="{312D45E3-9842-4776-92C2-456BD5392C79}" srcId="{DF03D05A-932B-470F-BD54-71BC9E9BA636}" destId="{678991B9-2E33-4E91-A5ED-E29FB4774BEC}" srcOrd="1" destOrd="0" parTransId="{C50B8D62-2980-4205-88E0-AE8EDEC615C9}" sibTransId="{6260ADF6-20B0-4273-9E7D-C47B05502C79}"/>
    <dgm:cxn modelId="{BB786AE9-9435-4086-AD69-8E1958875180}" type="presOf" srcId="{EFFC16A5-3EA1-486D-82F3-A0AA8EC60244}" destId="{C4D4CC04-A2BB-424B-B928-DFB52B22367E}" srcOrd="0" destOrd="3" presId="urn:microsoft.com/office/officeart/2005/8/layout/default"/>
    <dgm:cxn modelId="{F398C5EC-A228-4A3C-B8B3-5ADECE35A075}" srcId="{9877ADC1-81AA-490B-83C2-699008D548CC}" destId="{D571EA10-E13F-4D50-853E-09B232980199}" srcOrd="3" destOrd="0" parTransId="{C00274EA-4420-462D-A0C3-2BD3C38C6ECE}" sibTransId="{F7D21FFB-839F-474C-9C47-B3A30A678B36}"/>
    <dgm:cxn modelId="{01925AF2-DBF2-4BFD-A498-3FB9A03FE07D}" srcId="{678991B9-2E33-4E91-A5ED-E29FB4774BEC}" destId="{E8DBF588-9B98-4409-AE86-2482F53B5CFF}" srcOrd="0" destOrd="0" parTransId="{6BFDF16D-D0FC-4180-9447-5F33A7952D76}" sibTransId="{41827B8A-8B38-47C3-ABD8-B72933FCD543}"/>
    <dgm:cxn modelId="{F1F3B7FA-96DD-48A6-BC23-3876D35B6984}" srcId="{9877ADC1-81AA-490B-83C2-699008D548CC}" destId="{1FE8DFC4-C304-4A1B-9F75-13970696AD6E}" srcOrd="5" destOrd="0" parTransId="{E967E4AE-8CB1-4DF0-8BA3-51331FFD32BE}" sibTransId="{9856E235-441B-48EB-B7D0-DC767AA32309}"/>
    <dgm:cxn modelId="{5331D3FB-759B-4807-BA83-E1D0C88C688D}" type="presOf" srcId="{DF03D05A-932B-470F-BD54-71BC9E9BA636}" destId="{40451690-BACE-47A3-85D4-E329678F37A2}" srcOrd="0" destOrd="0" presId="urn:microsoft.com/office/officeart/2005/8/layout/default"/>
    <dgm:cxn modelId="{94FFEE98-99AD-43A4-9858-F330164057F6}" type="presParOf" srcId="{40451690-BACE-47A3-85D4-E329678F37A2}" destId="{17972298-F478-4550-B7DF-88699DF7755F}" srcOrd="0" destOrd="0" presId="urn:microsoft.com/office/officeart/2005/8/layout/default"/>
    <dgm:cxn modelId="{C99DE34B-9349-47A3-A784-7D079067E848}" type="presParOf" srcId="{40451690-BACE-47A3-85D4-E329678F37A2}" destId="{7975025A-1AEE-49C1-9AC1-31426EF1FDF1}" srcOrd="1" destOrd="0" presId="urn:microsoft.com/office/officeart/2005/8/layout/default"/>
    <dgm:cxn modelId="{A44FB65C-A0B1-45B4-9D27-B39F7B8755D1}" type="presParOf" srcId="{40451690-BACE-47A3-85D4-E329678F37A2}" destId="{C4D4CC04-A2BB-424B-B928-DFB52B22367E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2ACB03-09BD-4329-935F-A8D123E080B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DFDFABA-26A5-4E5B-A9EF-2D96F7724816}">
      <dgm:prSet custT="1"/>
      <dgm:spPr/>
      <dgm:t>
        <a:bodyPr/>
        <a:lstStyle/>
        <a:p>
          <a:r>
            <a:rPr lang="es-ES" sz="1600" b="1" i="1">
              <a:solidFill>
                <a:schemeClr val="tx1"/>
              </a:solidFill>
            </a:rPr>
            <a:t>Biomasa que se cultiva para producir alimentos, forrajes, fibras y energía </a:t>
          </a:r>
          <a:endParaRPr lang="en-US" sz="1600" b="1">
            <a:solidFill>
              <a:schemeClr val="tx1"/>
            </a:solidFill>
          </a:endParaRPr>
        </a:p>
      </dgm:t>
    </dgm:pt>
    <dgm:pt modelId="{09B874EC-D1E8-4FB5-9D7E-2058A58C58A8}" type="parTrans" cxnId="{4ADCD481-A7E4-428B-9AF9-F3B70DC1B3B6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4FE3E0C6-95B3-44B3-B228-E1A9E188E93C}" type="sibTrans" cxnId="{4ADCD481-A7E4-428B-9AF9-F3B70DC1B3B6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7750ADD-AF4A-4779-ABF7-AD97FD0EF277}">
      <dgm:prSet custT="1"/>
      <dgm:spPr/>
      <dgm:t>
        <a:bodyPr/>
        <a:lstStyle/>
        <a:p>
          <a:r>
            <a:rPr lang="es-ES" sz="1600" b="1" i="1">
              <a:solidFill>
                <a:schemeClr val="tx1"/>
              </a:solidFill>
            </a:rPr>
            <a:t>Biomasa de los recursos marinos y acuicultura</a:t>
          </a:r>
          <a:endParaRPr lang="en-US" sz="1600" b="1">
            <a:solidFill>
              <a:schemeClr val="tx1"/>
            </a:solidFill>
          </a:endParaRPr>
        </a:p>
      </dgm:t>
    </dgm:pt>
    <dgm:pt modelId="{C4F5AE7E-E99F-4C7E-BE18-1D913B726626}" type="parTrans" cxnId="{E8E2B02A-1225-4C6C-9D37-4A413A4423F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FBFA6387-3298-4415-92E2-258338A589A8}" type="sibTrans" cxnId="{E8E2B02A-1225-4C6C-9D37-4A413A4423FA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DBD12DEC-DC0B-40E3-88DB-14F992ED4D3B}">
      <dgm:prSet custT="1"/>
      <dgm:spPr/>
      <dgm:t>
        <a:bodyPr/>
        <a:lstStyle/>
        <a:p>
          <a:r>
            <a:rPr lang="es-ES" sz="1600" b="1" i="1">
              <a:solidFill>
                <a:schemeClr val="tx1"/>
              </a:solidFill>
            </a:rPr>
            <a:t>Biomasa forestal</a:t>
          </a:r>
          <a:endParaRPr lang="en-US" sz="1600" b="1">
            <a:solidFill>
              <a:schemeClr val="tx1"/>
            </a:solidFill>
          </a:endParaRPr>
        </a:p>
      </dgm:t>
    </dgm:pt>
    <dgm:pt modelId="{8F12EC80-A23E-4316-AD24-3554FEA14CF3}" type="parTrans" cxnId="{52D40584-5BCF-4CBC-B944-2D0232B15188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8E37DAA9-A5BD-4F2F-8D2A-AAE567842073}" type="sibTrans" cxnId="{52D40584-5BCF-4CBC-B944-2D0232B15188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01269D29-186E-4145-B09E-6BEA1413EA3B}">
      <dgm:prSet custT="1"/>
      <dgm:spPr/>
      <dgm:t>
        <a:bodyPr/>
        <a:lstStyle/>
        <a:p>
          <a:r>
            <a:rPr lang="es-ES" sz="1600" b="1" i="1">
              <a:solidFill>
                <a:schemeClr val="tx1"/>
              </a:solidFill>
            </a:rPr>
            <a:t>Biomasa residual en los sectores agropecuario, pesca y acuacultura, forestal y agroindustrial</a:t>
          </a:r>
          <a:endParaRPr lang="en-US" sz="1600" b="1">
            <a:solidFill>
              <a:schemeClr val="tx1"/>
            </a:solidFill>
          </a:endParaRPr>
        </a:p>
      </dgm:t>
    </dgm:pt>
    <dgm:pt modelId="{82F3FB4C-71AD-433F-9619-A300387DB471}" type="parTrans" cxnId="{766ACED2-AFA5-4D62-930A-DCC73206DC33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560AD210-C9AD-47B0-801F-EB13A0409034}" type="sibTrans" cxnId="{766ACED2-AFA5-4D62-930A-DCC73206DC33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14E00819-D8A1-4B71-88CB-494CD45E0E97}">
      <dgm:prSet custT="1"/>
      <dgm:spPr/>
      <dgm:t>
        <a:bodyPr/>
        <a:lstStyle/>
        <a:p>
          <a:r>
            <a:rPr lang="es-ES" sz="1600" b="1" i="1">
              <a:solidFill>
                <a:schemeClr val="tx1"/>
              </a:solidFill>
            </a:rPr>
            <a:t>Biomasa que se puede recuperar de los desechos urbanos</a:t>
          </a:r>
          <a:endParaRPr lang="en-US" sz="1600" b="1">
            <a:solidFill>
              <a:schemeClr val="tx1"/>
            </a:solidFill>
          </a:endParaRPr>
        </a:p>
      </dgm:t>
    </dgm:pt>
    <dgm:pt modelId="{9A2DAE63-9B49-4646-B362-3D3836C96494}" type="parTrans" cxnId="{8E9A142B-EA3D-4F0C-92D2-C3DD90228D5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7DF4A178-70D6-490A-A8C2-9D17343E22AA}" type="sibTrans" cxnId="{8E9A142B-EA3D-4F0C-92D2-C3DD90228D55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5BE8EC1F-7C5A-4982-93FC-1CC411805B76}">
      <dgm:prSet custT="1"/>
      <dgm:spPr/>
      <dgm:t>
        <a:bodyPr/>
        <a:lstStyle/>
        <a:p>
          <a:r>
            <a:rPr lang="es-ES" sz="1600" b="1" i="1">
              <a:solidFill>
                <a:schemeClr val="tx1"/>
              </a:solidFill>
            </a:rPr>
            <a:t>Desechos líquidos de la ganadería y de la actividad humana</a:t>
          </a:r>
          <a:endParaRPr lang="en-US" sz="1600" b="1">
            <a:solidFill>
              <a:schemeClr val="tx1"/>
            </a:solidFill>
          </a:endParaRPr>
        </a:p>
      </dgm:t>
    </dgm:pt>
    <dgm:pt modelId="{23683DE5-B7D3-4C48-B38E-194988C1958F}" type="parTrans" cxnId="{6BEA0EE0-E91C-4FC4-96D4-0624DC6A2741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9F817697-043E-43E4-BA11-BFA2A71245C4}" type="sibTrans" cxnId="{6BEA0EE0-E91C-4FC4-96D4-0624DC6A2741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CDF18BBB-219A-4EA0-9194-807DA76C11E0}">
      <dgm:prSet custT="1"/>
      <dgm:spPr/>
      <dgm:t>
        <a:bodyPr/>
        <a:lstStyle/>
        <a:p>
          <a:r>
            <a:rPr lang="es-ES" sz="1600" b="1" i="1">
              <a:solidFill>
                <a:schemeClr val="tx1"/>
              </a:solidFill>
            </a:rPr>
            <a:t>Biodiversidad terrestre y marina, incluyendo la biodiversidad de aguas continentales.</a:t>
          </a:r>
          <a:endParaRPr lang="en-US" sz="1600" b="1">
            <a:solidFill>
              <a:schemeClr val="tx1"/>
            </a:solidFill>
          </a:endParaRPr>
        </a:p>
      </dgm:t>
    </dgm:pt>
    <dgm:pt modelId="{5D4D3E92-30A6-4134-A8B2-2A1101E66B2E}" type="parTrans" cxnId="{3D894AA2-ADCC-46FA-AE00-0F1A9A50E94C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313E30D9-D726-4232-951A-0000D525065F}" type="sibTrans" cxnId="{3D894AA2-ADCC-46FA-AE00-0F1A9A50E94C}">
      <dgm:prSet/>
      <dgm:spPr/>
      <dgm:t>
        <a:bodyPr/>
        <a:lstStyle/>
        <a:p>
          <a:endParaRPr lang="en-US" sz="1600" b="1">
            <a:solidFill>
              <a:schemeClr val="tx1"/>
            </a:solidFill>
          </a:endParaRPr>
        </a:p>
      </dgm:t>
    </dgm:pt>
    <dgm:pt modelId="{38CDC2FF-66A2-4E3E-A0B0-F11834D143B8}" type="pres">
      <dgm:prSet presAssocID="{CB2ACB03-09BD-4329-935F-A8D123E080BB}" presName="diagram" presStyleCnt="0">
        <dgm:presLayoutVars>
          <dgm:dir/>
          <dgm:resizeHandles val="exact"/>
        </dgm:presLayoutVars>
      </dgm:prSet>
      <dgm:spPr/>
    </dgm:pt>
    <dgm:pt modelId="{EA6509AB-0AAA-44FE-8578-1090DF98BA53}" type="pres">
      <dgm:prSet presAssocID="{BDFDFABA-26A5-4E5B-A9EF-2D96F7724816}" presName="node" presStyleLbl="node1" presStyleIdx="0" presStyleCnt="7">
        <dgm:presLayoutVars>
          <dgm:bulletEnabled val="1"/>
        </dgm:presLayoutVars>
      </dgm:prSet>
      <dgm:spPr/>
    </dgm:pt>
    <dgm:pt modelId="{3E9F702F-4E48-4034-BE89-855FDFD3AFD4}" type="pres">
      <dgm:prSet presAssocID="{4FE3E0C6-95B3-44B3-B228-E1A9E188E93C}" presName="sibTrans" presStyleCnt="0"/>
      <dgm:spPr/>
    </dgm:pt>
    <dgm:pt modelId="{255E0CBD-7D78-42E0-9D7F-9C7A45529E52}" type="pres">
      <dgm:prSet presAssocID="{07750ADD-AF4A-4779-ABF7-AD97FD0EF277}" presName="node" presStyleLbl="node1" presStyleIdx="1" presStyleCnt="7">
        <dgm:presLayoutVars>
          <dgm:bulletEnabled val="1"/>
        </dgm:presLayoutVars>
      </dgm:prSet>
      <dgm:spPr/>
    </dgm:pt>
    <dgm:pt modelId="{8DAAB99F-17B9-48A1-8107-9A0B3F48FA7A}" type="pres">
      <dgm:prSet presAssocID="{FBFA6387-3298-4415-92E2-258338A589A8}" presName="sibTrans" presStyleCnt="0"/>
      <dgm:spPr/>
    </dgm:pt>
    <dgm:pt modelId="{74AED7CD-A0C7-4AE1-832F-F9132E687C3F}" type="pres">
      <dgm:prSet presAssocID="{DBD12DEC-DC0B-40E3-88DB-14F992ED4D3B}" presName="node" presStyleLbl="node1" presStyleIdx="2" presStyleCnt="7">
        <dgm:presLayoutVars>
          <dgm:bulletEnabled val="1"/>
        </dgm:presLayoutVars>
      </dgm:prSet>
      <dgm:spPr/>
    </dgm:pt>
    <dgm:pt modelId="{9D1A28F0-CBAF-4AE8-88E1-6DE4E14DE9AA}" type="pres">
      <dgm:prSet presAssocID="{8E37DAA9-A5BD-4F2F-8D2A-AAE567842073}" presName="sibTrans" presStyleCnt="0"/>
      <dgm:spPr/>
    </dgm:pt>
    <dgm:pt modelId="{B2448A1C-46D5-4F7C-9B55-D7CB4226E6C3}" type="pres">
      <dgm:prSet presAssocID="{01269D29-186E-4145-B09E-6BEA1413EA3B}" presName="node" presStyleLbl="node1" presStyleIdx="3" presStyleCnt="7">
        <dgm:presLayoutVars>
          <dgm:bulletEnabled val="1"/>
        </dgm:presLayoutVars>
      </dgm:prSet>
      <dgm:spPr/>
    </dgm:pt>
    <dgm:pt modelId="{DCC13ED5-63B9-421D-95EC-1192F5B13479}" type="pres">
      <dgm:prSet presAssocID="{560AD210-C9AD-47B0-801F-EB13A0409034}" presName="sibTrans" presStyleCnt="0"/>
      <dgm:spPr/>
    </dgm:pt>
    <dgm:pt modelId="{EB4C2199-28EA-45D8-9C99-03ACB8B7B9B2}" type="pres">
      <dgm:prSet presAssocID="{14E00819-D8A1-4B71-88CB-494CD45E0E97}" presName="node" presStyleLbl="node1" presStyleIdx="4" presStyleCnt="7">
        <dgm:presLayoutVars>
          <dgm:bulletEnabled val="1"/>
        </dgm:presLayoutVars>
      </dgm:prSet>
      <dgm:spPr/>
    </dgm:pt>
    <dgm:pt modelId="{01A16905-B445-422C-9823-0DAFC43B2663}" type="pres">
      <dgm:prSet presAssocID="{7DF4A178-70D6-490A-A8C2-9D17343E22AA}" presName="sibTrans" presStyleCnt="0"/>
      <dgm:spPr/>
    </dgm:pt>
    <dgm:pt modelId="{82DD6921-4BF5-4C64-91B1-A77E9FA47F89}" type="pres">
      <dgm:prSet presAssocID="{5BE8EC1F-7C5A-4982-93FC-1CC411805B76}" presName="node" presStyleLbl="node1" presStyleIdx="5" presStyleCnt="7">
        <dgm:presLayoutVars>
          <dgm:bulletEnabled val="1"/>
        </dgm:presLayoutVars>
      </dgm:prSet>
      <dgm:spPr/>
    </dgm:pt>
    <dgm:pt modelId="{03BC3C68-74C1-4205-AE47-FC855832FD52}" type="pres">
      <dgm:prSet presAssocID="{9F817697-043E-43E4-BA11-BFA2A71245C4}" presName="sibTrans" presStyleCnt="0"/>
      <dgm:spPr/>
    </dgm:pt>
    <dgm:pt modelId="{C02E1580-521F-45E8-934B-D198CA9DA7D1}" type="pres">
      <dgm:prSet presAssocID="{CDF18BBB-219A-4EA0-9194-807DA76C11E0}" presName="node" presStyleLbl="node1" presStyleIdx="6" presStyleCnt="7">
        <dgm:presLayoutVars>
          <dgm:bulletEnabled val="1"/>
        </dgm:presLayoutVars>
      </dgm:prSet>
      <dgm:spPr/>
    </dgm:pt>
  </dgm:ptLst>
  <dgm:cxnLst>
    <dgm:cxn modelId="{65E08E2A-BE93-4AFD-B3F6-E4B08C2B241F}" type="presOf" srcId="{01269D29-186E-4145-B09E-6BEA1413EA3B}" destId="{B2448A1C-46D5-4F7C-9B55-D7CB4226E6C3}" srcOrd="0" destOrd="0" presId="urn:microsoft.com/office/officeart/2005/8/layout/default"/>
    <dgm:cxn modelId="{E8E2B02A-1225-4C6C-9D37-4A413A4423FA}" srcId="{CB2ACB03-09BD-4329-935F-A8D123E080BB}" destId="{07750ADD-AF4A-4779-ABF7-AD97FD0EF277}" srcOrd="1" destOrd="0" parTransId="{C4F5AE7E-E99F-4C7E-BE18-1D913B726626}" sibTransId="{FBFA6387-3298-4415-92E2-258338A589A8}"/>
    <dgm:cxn modelId="{8E9A142B-EA3D-4F0C-92D2-C3DD90228D55}" srcId="{CB2ACB03-09BD-4329-935F-A8D123E080BB}" destId="{14E00819-D8A1-4B71-88CB-494CD45E0E97}" srcOrd="4" destOrd="0" parTransId="{9A2DAE63-9B49-4646-B362-3D3836C96494}" sibTransId="{7DF4A178-70D6-490A-A8C2-9D17343E22AA}"/>
    <dgm:cxn modelId="{6C711E63-1BFB-4E01-B206-CFF50EBAA76B}" type="presOf" srcId="{BDFDFABA-26A5-4E5B-A9EF-2D96F7724816}" destId="{EA6509AB-0AAA-44FE-8578-1090DF98BA53}" srcOrd="0" destOrd="0" presId="urn:microsoft.com/office/officeart/2005/8/layout/default"/>
    <dgm:cxn modelId="{65036D7E-D0E3-45A9-BF62-4DE2E8F52BD1}" type="presOf" srcId="{DBD12DEC-DC0B-40E3-88DB-14F992ED4D3B}" destId="{74AED7CD-A0C7-4AE1-832F-F9132E687C3F}" srcOrd="0" destOrd="0" presId="urn:microsoft.com/office/officeart/2005/8/layout/default"/>
    <dgm:cxn modelId="{E2F70F80-88FB-4492-B1D6-A7A3202120BE}" type="presOf" srcId="{07750ADD-AF4A-4779-ABF7-AD97FD0EF277}" destId="{255E0CBD-7D78-42E0-9D7F-9C7A45529E52}" srcOrd="0" destOrd="0" presId="urn:microsoft.com/office/officeart/2005/8/layout/default"/>
    <dgm:cxn modelId="{4ADCD481-A7E4-428B-9AF9-F3B70DC1B3B6}" srcId="{CB2ACB03-09BD-4329-935F-A8D123E080BB}" destId="{BDFDFABA-26A5-4E5B-A9EF-2D96F7724816}" srcOrd="0" destOrd="0" parTransId="{09B874EC-D1E8-4FB5-9D7E-2058A58C58A8}" sibTransId="{4FE3E0C6-95B3-44B3-B228-E1A9E188E93C}"/>
    <dgm:cxn modelId="{32F4FB83-16E2-47F9-85E5-0F6C559D8426}" type="presOf" srcId="{14E00819-D8A1-4B71-88CB-494CD45E0E97}" destId="{EB4C2199-28EA-45D8-9C99-03ACB8B7B9B2}" srcOrd="0" destOrd="0" presId="urn:microsoft.com/office/officeart/2005/8/layout/default"/>
    <dgm:cxn modelId="{52D40584-5BCF-4CBC-B944-2D0232B15188}" srcId="{CB2ACB03-09BD-4329-935F-A8D123E080BB}" destId="{DBD12DEC-DC0B-40E3-88DB-14F992ED4D3B}" srcOrd="2" destOrd="0" parTransId="{8F12EC80-A23E-4316-AD24-3554FEA14CF3}" sibTransId="{8E37DAA9-A5BD-4F2F-8D2A-AAE567842073}"/>
    <dgm:cxn modelId="{3D894AA2-ADCC-46FA-AE00-0F1A9A50E94C}" srcId="{CB2ACB03-09BD-4329-935F-A8D123E080BB}" destId="{CDF18BBB-219A-4EA0-9194-807DA76C11E0}" srcOrd="6" destOrd="0" parTransId="{5D4D3E92-30A6-4134-A8B2-2A1101E66B2E}" sibTransId="{313E30D9-D726-4232-951A-0000D525065F}"/>
    <dgm:cxn modelId="{B4267FA3-A8A9-452E-82E4-25E4E0B9533A}" type="presOf" srcId="{CDF18BBB-219A-4EA0-9194-807DA76C11E0}" destId="{C02E1580-521F-45E8-934B-D198CA9DA7D1}" srcOrd="0" destOrd="0" presId="urn:microsoft.com/office/officeart/2005/8/layout/default"/>
    <dgm:cxn modelId="{9D63B3B8-7DA9-433A-8BBB-347A03986B6C}" type="presOf" srcId="{5BE8EC1F-7C5A-4982-93FC-1CC411805B76}" destId="{82DD6921-4BF5-4C64-91B1-A77E9FA47F89}" srcOrd="0" destOrd="0" presId="urn:microsoft.com/office/officeart/2005/8/layout/default"/>
    <dgm:cxn modelId="{766ACED2-AFA5-4D62-930A-DCC73206DC33}" srcId="{CB2ACB03-09BD-4329-935F-A8D123E080BB}" destId="{01269D29-186E-4145-B09E-6BEA1413EA3B}" srcOrd="3" destOrd="0" parTransId="{82F3FB4C-71AD-433F-9619-A300387DB471}" sibTransId="{560AD210-C9AD-47B0-801F-EB13A0409034}"/>
    <dgm:cxn modelId="{6BEA0EE0-E91C-4FC4-96D4-0624DC6A2741}" srcId="{CB2ACB03-09BD-4329-935F-A8D123E080BB}" destId="{5BE8EC1F-7C5A-4982-93FC-1CC411805B76}" srcOrd="5" destOrd="0" parTransId="{23683DE5-B7D3-4C48-B38E-194988C1958F}" sibTransId="{9F817697-043E-43E4-BA11-BFA2A71245C4}"/>
    <dgm:cxn modelId="{06A1E7F3-72AC-4C99-9658-953AC26545FC}" type="presOf" srcId="{CB2ACB03-09BD-4329-935F-A8D123E080BB}" destId="{38CDC2FF-66A2-4E3E-A0B0-F11834D143B8}" srcOrd="0" destOrd="0" presId="urn:microsoft.com/office/officeart/2005/8/layout/default"/>
    <dgm:cxn modelId="{C269113D-13DC-4579-8F7D-2A580FBFDC2D}" type="presParOf" srcId="{38CDC2FF-66A2-4E3E-A0B0-F11834D143B8}" destId="{EA6509AB-0AAA-44FE-8578-1090DF98BA53}" srcOrd="0" destOrd="0" presId="urn:microsoft.com/office/officeart/2005/8/layout/default"/>
    <dgm:cxn modelId="{7CDF6237-A86C-4426-8D4D-865D777B11AA}" type="presParOf" srcId="{38CDC2FF-66A2-4E3E-A0B0-F11834D143B8}" destId="{3E9F702F-4E48-4034-BE89-855FDFD3AFD4}" srcOrd="1" destOrd="0" presId="urn:microsoft.com/office/officeart/2005/8/layout/default"/>
    <dgm:cxn modelId="{9B0F1BFD-B344-4D6B-B1A2-7103079AD0A7}" type="presParOf" srcId="{38CDC2FF-66A2-4E3E-A0B0-F11834D143B8}" destId="{255E0CBD-7D78-42E0-9D7F-9C7A45529E52}" srcOrd="2" destOrd="0" presId="urn:microsoft.com/office/officeart/2005/8/layout/default"/>
    <dgm:cxn modelId="{7D9E7C8A-B536-4A90-95F4-7164D72CE9F5}" type="presParOf" srcId="{38CDC2FF-66A2-4E3E-A0B0-F11834D143B8}" destId="{8DAAB99F-17B9-48A1-8107-9A0B3F48FA7A}" srcOrd="3" destOrd="0" presId="urn:microsoft.com/office/officeart/2005/8/layout/default"/>
    <dgm:cxn modelId="{C3205BE7-AFBC-457F-97DF-CE662568E93B}" type="presParOf" srcId="{38CDC2FF-66A2-4E3E-A0B0-F11834D143B8}" destId="{74AED7CD-A0C7-4AE1-832F-F9132E687C3F}" srcOrd="4" destOrd="0" presId="urn:microsoft.com/office/officeart/2005/8/layout/default"/>
    <dgm:cxn modelId="{68C48EF6-506A-4CB8-879A-5FAF17A66C45}" type="presParOf" srcId="{38CDC2FF-66A2-4E3E-A0B0-F11834D143B8}" destId="{9D1A28F0-CBAF-4AE8-88E1-6DE4E14DE9AA}" srcOrd="5" destOrd="0" presId="urn:microsoft.com/office/officeart/2005/8/layout/default"/>
    <dgm:cxn modelId="{B4CE7A1B-2D09-4355-A2FE-9C715160F03E}" type="presParOf" srcId="{38CDC2FF-66A2-4E3E-A0B0-F11834D143B8}" destId="{B2448A1C-46D5-4F7C-9B55-D7CB4226E6C3}" srcOrd="6" destOrd="0" presId="urn:microsoft.com/office/officeart/2005/8/layout/default"/>
    <dgm:cxn modelId="{F3F7E094-557E-49BF-A9DC-E5D7959F1F2E}" type="presParOf" srcId="{38CDC2FF-66A2-4E3E-A0B0-F11834D143B8}" destId="{DCC13ED5-63B9-421D-95EC-1192F5B13479}" srcOrd="7" destOrd="0" presId="urn:microsoft.com/office/officeart/2005/8/layout/default"/>
    <dgm:cxn modelId="{CFAD0944-59FE-416B-B7E9-CA4A1B6C7555}" type="presParOf" srcId="{38CDC2FF-66A2-4E3E-A0B0-F11834D143B8}" destId="{EB4C2199-28EA-45D8-9C99-03ACB8B7B9B2}" srcOrd="8" destOrd="0" presId="urn:microsoft.com/office/officeart/2005/8/layout/default"/>
    <dgm:cxn modelId="{B30E0815-FF91-46CF-9FD4-6F6460398D11}" type="presParOf" srcId="{38CDC2FF-66A2-4E3E-A0B0-F11834D143B8}" destId="{01A16905-B445-422C-9823-0DAFC43B2663}" srcOrd="9" destOrd="0" presId="urn:microsoft.com/office/officeart/2005/8/layout/default"/>
    <dgm:cxn modelId="{0B7220F5-6945-4E06-9C36-1E81E81AFABA}" type="presParOf" srcId="{38CDC2FF-66A2-4E3E-A0B0-F11834D143B8}" destId="{82DD6921-4BF5-4C64-91B1-A77E9FA47F89}" srcOrd="10" destOrd="0" presId="urn:microsoft.com/office/officeart/2005/8/layout/default"/>
    <dgm:cxn modelId="{9F6FB734-9661-44AC-811D-33B717E3B1B4}" type="presParOf" srcId="{38CDC2FF-66A2-4E3E-A0B0-F11834D143B8}" destId="{03BC3C68-74C1-4205-AE47-FC855832FD52}" srcOrd="11" destOrd="0" presId="urn:microsoft.com/office/officeart/2005/8/layout/default"/>
    <dgm:cxn modelId="{2D484EEA-AA1A-4312-A2B3-05A865963E1B}" type="presParOf" srcId="{38CDC2FF-66A2-4E3E-A0B0-F11834D143B8}" destId="{C02E1580-521F-45E8-934B-D198CA9DA7D1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972298-F478-4550-B7DF-88699DF7755F}">
      <dsp:nvSpPr>
        <dsp:cNvPr id="0" name=""/>
        <dsp:cNvSpPr/>
      </dsp:nvSpPr>
      <dsp:spPr>
        <a:xfrm>
          <a:off x="1341" y="750363"/>
          <a:ext cx="5229913" cy="3137947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Sistema de Cuentas Nacionales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Desempeño económico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La producción.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El consumo.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La distribución del ingreso.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El beneficio anual de las actividades económicas.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Tiene reglas estrictas contables, definiciones y clasificaciones.</a:t>
          </a:r>
        </a:p>
      </dsp:txBody>
      <dsp:txXfrm>
        <a:off x="1341" y="750363"/>
        <a:ext cx="5229913" cy="3137947"/>
      </dsp:txXfrm>
    </dsp:sp>
    <dsp:sp modelId="{C4D4CC04-A2BB-424B-B928-DFB52B22367E}">
      <dsp:nvSpPr>
        <dsp:cNvPr id="0" name=""/>
        <dsp:cNvSpPr/>
      </dsp:nvSpPr>
      <dsp:spPr>
        <a:xfrm>
          <a:off x="5754245" y="750363"/>
          <a:ext cx="5229913" cy="3137947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solidFill>
                <a:schemeClr val="tx1"/>
              </a:solidFill>
            </a:rPr>
            <a:t>Cuentas Satélite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Extienden el alcance del Sistema de Cuentas Nacionales.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Hacen un acercamiento y aislan un tema en particular para revelar su valor.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solidFill>
                <a:schemeClr val="tx1"/>
              </a:solidFill>
            </a:rPr>
            <a:t>Usan información complementaria pero compatible con el SCN (física por ejemplo).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solidFill>
                <a:schemeClr val="tx1"/>
              </a:solidFill>
            </a:rPr>
            <a:t>En </a:t>
          </a:r>
          <a:r>
            <a:rPr lang="en-US" sz="1900" kern="1200" dirty="0" err="1">
              <a:solidFill>
                <a:schemeClr val="tx1"/>
              </a:solidFill>
            </a:rPr>
            <a:t>algunos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casos</a:t>
          </a:r>
          <a:r>
            <a:rPr lang="en-US" sz="1900" kern="1200" dirty="0">
              <a:solidFill>
                <a:schemeClr val="tx1"/>
              </a:solidFill>
            </a:rPr>
            <a:t>, </a:t>
          </a:r>
          <a:r>
            <a:rPr lang="en-US" sz="1900" kern="1200" dirty="0" err="1">
              <a:solidFill>
                <a:schemeClr val="tx1"/>
              </a:solidFill>
            </a:rPr>
            <a:t>modifican</a:t>
          </a:r>
          <a:r>
            <a:rPr lang="en-US" sz="1900" kern="1200" dirty="0">
              <a:solidFill>
                <a:schemeClr val="tx1"/>
              </a:solidFill>
            </a:rPr>
            <a:t> </a:t>
          </a:r>
          <a:r>
            <a:rPr lang="en-US" sz="1900" kern="1200" dirty="0" err="1">
              <a:solidFill>
                <a:schemeClr val="tx1"/>
              </a:solidFill>
            </a:rPr>
            <a:t>definiciones</a:t>
          </a:r>
          <a:r>
            <a:rPr lang="en-US" sz="1900" kern="1200" dirty="0">
              <a:solidFill>
                <a:schemeClr val="tx1"/>
              </a:solidFill>
            </a:rPr>
            <a:t>. </a:t>
          </a:r>
        </a:p>
      </dsp:txBody>
      <dsp:txXfrm>
        <a:off x="5754245" y="750363"/>
        <a:ext cx="5229913" cy="31379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6509AB-0AAA-44FE-8578-1090DF98BA53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>
              <a:solidFill>
                <a:schemeClr val="tx1"/>
              </a:solidFill>
            </a:rPr>
            <a:t>Biomasa que se cultiva para producir alimentos, forrajes, fibras y energía 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3080" y="587032"/>
        <a:ext cx="2444055" cy="1466433"/>
      </dsp:txXfrm>
    </dsp:sp>
    <dsp:sp modelId="{255E0CBD-7D78-42E0-9D7F-9C7A45529E52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>
              <a:solidFill>
                <a:schemeClr val="tx1"/>
              </a:solidFill>
            </a:rPr>
            <a:t>Biomasa de los recursos marinos y acuicultura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2691541" y="587032"/>
        <a:ext cx="2444055" cy="1466433"/>
      </dsp:txXfrm>
    </dsp:sp>
    <dsp:sp modelId="{74AED7CD-A0C7-4AE1-832F-F9132E687C3F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>
              <a:solidFill>
                <a:schemeClr val="tx1"/>
              </a:solidFill>
            </a:rPr>
            <a:t>Biomasa forestal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5380002" y="587032"/>
        <a:ext cx="2444055" cy="1466433"/>
      </dsp:txXfrm>
    </dsp:sp>
    <dsp:sp modelId="{B2448A1C-46D5-4F7C-9B55-D7CB4226E6C3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>
              <a:solidFill>
                <a:schemeClr val="tx1"/>
              </a:solidFill>
            </a:rPr>
            <a:t>Biomasa residual en los sectores agropecuario, pesca y acuacultura, forestal y agroindustrial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8068463" y="587032"/>
        <a:ext cx="2444055" cy="1466433"/>
      </dsp:txXfrm>
    </dsp:sp>
    <dsp:sp modelId="{EB4C2199-28EA-45D8-9C99-03ACB8B7B9B2}">
      <dsp:nvSpPr>
        <dsp:cNvPr id="0" name=""/>
        <dsp:cNvSpPr/>
      </dsp:nvSpPr>
      <dsp:spPr>
        <a:xfrm>
          <a:off x="1347311" y="2297871"/>
          <a:ext cx="2444055" cy="1466433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>
              <a:solidFill>
                <a:schemeClr val="tx1"/>
              </a:solidFill>
            </a:rPr>
            <a:t>Biomasa que se puede recuperar de los desechos urbanos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1347311" y="2297871"/>
        <a:ext cx="2444055" cy="1466433"/>
      </dsp:txXfrm>
    </dsp:sp>
    <dsp:sp modelId="{82DD6921-4BF5-4C64-91B1-A77E9FA47F89}">
      <dsp:nvSpPr>
        <dsp:cNvPr id="0" name=""/>
        <dsp:cNvSpPr/>
      </dsp:nvSpPr>
      <dsp:spPr>
        <a:xfrm>
          <a:off x="4035772" y="2297871"/>
          <a:ext cx="2444055" cy="146643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>
              <a:solidFill>
                <a:schemeClr val="tx1"/>
              </a:solidFill>
            </a:rPr>
            <a:t>Desechos líquidos de la ganadería y de la actividad humana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4035772" y="2297871"/>
        <a:ext cx="2444055" cy="1466433"/>
      </dsp:txXfrm>
    </dsp:sp>
    <dsp:sp modelId="{C02E1580-521F-45E8-934B-D198CA9DA7D1}">
      <dsp:nvSpPr>
        <dsp:cNvPr id="0" name=""/>
        <dsp:cNvSpPr/>
      </dsp:nvSpPr>
      <dsp:spPr>
        <a:xfrm>
          <a:off x="6724233" y="2297871"/>
          <a:ext cx="2444055" cy="1466433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b="1" i="1" kern="1200">
              <a:solidFill>
                <a:schemeClr val="tx1"/>
              </a:solidFill>
            </a:rPr>
            <a:t>Biodiversidad terrestre y marina, incluyendo la biodiversidad de aguas continentales.</a:t>
          </a:r>
          <a:endParaRPr lang="en-US" sz="1600" b="1" kern="1200">
            <a:solidFill>
              <a:schemeClr val="tx1"/>
            </a:solidFill>
          </a:endParaRPr>
        </a:p>
      </dsp:txBody>
      <dsp:txXfrm>
        <a:off x="672423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891D0-FBED-4C98-8AAA-C2CD2806D006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1B87E3-C0A6-4DCC-87C0-74548F661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9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VA BIO vía VBP = 17,2%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542409-6A04-4DC6-AC3A-D3758287A8F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99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16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283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9222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182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7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7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929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529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187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749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431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7A6E9D6-0B0D-41A2-8E17-04DD88E78EC1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3242FB-CC80-4401-A67F-FDEC0D02EAE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68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51CCF489-1FAF-E7FE-082C-42DF5622C9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2089" y="-1"/>
            <a:ext cx="5040104" cy="630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0B8C421-D63E-CEA8-A7F5-96E8352F0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44710" y="758952"/>
            <a:ext cx="7503208" cy="3566160"/>
          </a:xfrm>
        </p:spPr>
        <p:txBody>
          <a:bodyPr>
            <a:normAutofit/>
          </a:bodyPr>
          <a:lstStyle/>
          <a:p>
            <a:pPr algn="ctr"/>
            <a:r>
              <a:rPr lang="es-ES" b="1" dirty="0"/>
              <a:t>La contabilidad nacional de la bioeconomía</a:t>
            </a:r>
            <a:endParaRPr lang="en-US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6E31F-C9FB-2975-00D0-34EA8BB24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4709" y="4455621"/>
            <a:ext cx="7503208" cy="1143000"/>
          </a:xfrm>
        </p:spPr>
        <p:txBody>
          <a:bodyPr/>
          <a:lstStyle/>
          <a:p>
            <a:pPr algn="ctr"/>
            <a:r>
              <a:rPr lang="en-US" b="1" cap="none" dirty="0">
                <a:solidFill>
                  <a:schemeClr val="tx1"/>
                </a:solidFill>
              </a:rPr>
              <a:t>Renato Vargas – Consultor para CEPAL</a:t>
            </a:r>
          </a:p>
        </p:txBody>
      </p:sp>
      <p:pic>
        <p:nvPicPr>
          <p:cNvPr id="1026" name="Picture 5" descr="A logo with a globe and a blue circle on a black background&#10;&#10;AI-generated content may be incorrect.">
            <a:extLst>
              <a:ext uri="{FF2B5EF4-FFF2-40B4-BE49-F238E27FC236}">
                <a16:creationId xmlns:a16="http://schemas.microsoft.com/office/drawing/2014/main" id="{5606F898-8EC2-9AA3-79A7-C1F13BCA4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9023" y="5027121"/>
            <a:ext cx="854579" cy="1049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5E295D-F4CD-77AE-83FE-6522B6F54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2180" y="4603258"/>
            <a:ext cx="71357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83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3C70489-C662-D0DA-ED9A-37240761D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tx1"/>
                </a:solidFill>
              </a:rPr>
              <a:t>Sistema de Cuentas Nacionales y Cuentas </a:t>
            </a:r>
            <a:r>
              <a:rPr lang="en-US" sz="3600" dirty="0" err="1">
                <a:solidFill>
                  <a:schemeClr val="tx1"/>
                </a:solidFill>
              </a:rPr>
              <a:t>Satélite</a:t>
            </a:r>
            <a:endParaRPr lang="en-US" sz="3600" dirty="0">
              <a:solidFill>
                <a:schemeClr val="tx1"/>
              </a:solidFill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649AE53-CA6E-6A43-09CC-8ABD79A75F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5300" y="1854200"/>
          <a:ext cx="10985500" cy="46386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57581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Content Placeholder 19">
            <a:extLst>
              <a:ext uri="{FF2B5EF4-FFF2-40B4-BE49-F238E27FC236}">
                <a16:creationId xmlns:a16="http://schemas.microsoft.com/office/drawing/2014/main" id="{CD07204A-A008-43E8-FF2A-CF013335CD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8" cy="3525926"/>
        </p:xfrm>
        <a:graphic>
          <a:graphicData uri="http://schemas.openxmlformats.org/drawingml/2006/table">
            <a:tbl>
              <a:tblPr/>
              <a:tblGrid>
                <a:gridCol w="1989438">
                  <a:extLst>
                    <a:ext uri="{9D8B030D-6E8A-4147-A177-3AD203B41FA5}">
                      <a16:colId xmlns:a16="http://schemas.microsoft.com/office/drawing/2014/main" val="2431302471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2621985989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3930393637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2667376969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323116100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2181107701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3992431236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796563430"/>
                    </a:ext>
                  </a:extLst>
                </a:gridCol>
                <a:gridCol w="1065770">
                  <a:extLst>
                    <a:ext uri="{9D8B030D-6E8A-4147-A177-3AD203B41FA5}">
                      <a16:colId xmlns:a16="http://schemas.microsoft.com/office/drawing/2014/main" val="4020790510"/>
                    </a:ext>
                  </a:extLst>
                </a:gridCol>
              </a:tblGrid>
              <a:tr h="550648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Producción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Importa-ciones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Ajuste CIF/FOB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s-E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Impuestos menos sub-venciones sobre los productos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Márgenes de distribución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Oferta</a:t>
                      </a:r>
                      <a:b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6469086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 - B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 - 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173736"/>
                  </a:ext>
                </a:extLst>
              </a:tr>
              <a:tr h="488478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Producción de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Sector primario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Manu-facturas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Servicios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2395935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Productos agrícolas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16.192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212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20.527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272915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Productos mineros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10.909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11.087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51650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Manufacturas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41.854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22.105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4.819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11.935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80.950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24165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Servicios básicos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4.449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4.453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062022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Construcción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19.679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19.679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5550369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Comercio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14.679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-15.498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225901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Otros servicios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69.170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3.159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-1.090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2.508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73.858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1116138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 CIF/FOB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-1.090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1.090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297130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Oferta Total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27.453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42.813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108.156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24.896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7.236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210.553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636671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C162A4A-FF17-425B-96AF-0C463C17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Cuadro de </a:t>
            </a:r>
            <a:r>
              <a:rPr lang="en-US" dirty="0" err="1"/>
              <a:t>Oferta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8E3016-6FFA-C516-7D26-92D7CC6E80E6}"/>
              </a:ext>
            </a:extLst>
          </p:cNvPr>
          <p:cNvSpPr/>
          <p:nvPr/>
        </p:nvSpPr>
        <p:spPr>
          <a:xfrm>
            <a:off x="838200" y="3101340"/>
            <a:ext cx="1988820" cy="199644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278 </a:t>
            </a:r>
            <a:r>
              <a:rPr lang="en-US" dirty="0" err="1"/>
              <a:t>productos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17B203-0D26-D7E6-05B6-C1306DA55AF9}"/>
              </a:ext>
            </a:extLst>
          </p:cNvPr>
          <p:cNvSpPr/>
          <p:nvPr/>
        </p:nvSpPr>
        <p:spPr>
          <a:xfrm>
            <a:off x="2827020" y="2369820"/>
            <a:ext cx="3185160" cy="73152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71 </a:t>
            </a:r>
            <a:r>
              <a:rPr lang="en-US" dirty="0" err="1"/>
              <a:t>actividades</a:t>
            </a:r>
            <a:r>
              <a:rPr lang="en-US" dirty="0"/>
              <a:t> </a:t>
            </a:r>
            <a:r>
              <a:rPr lang="en-US" dirty="0" err="1"/>
              <a:t>económicas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D0FA78-6948-DBE1-9D7F-2B51DE33D2D7}"/>
              </a:ext>
            </a:extLst>
          </p:cNvPr>
          <p:cNvSpPr/>
          <p:nvPr/>
        </p:nvSpPr>
        <p:spPr>
          <a:xfrm>
            <a:off x="2827020" y="1825625"/>
            <a:ext cx="8526778" cy="12757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Serie de </a:t>
            </a:r>
            <a:r>
              <a:rPr lang="en-US" dirty="0" err="1"/>
              <a:t>transacciones</a:t>
            </a:r>
            <a:endParaRPr lang="en-US" dirty="0"/>
          </a:p>
          <a:p>
            <a:pPr algn="ctr"/>
            <a:r>
              <a:rPr lang="en-US" dirty="0" err="1"/>
              <a:t>Producción</a:t>
            </a:r>
            <a:r>
              <a:rPr lang="en-US" dirty="0"/>
              <a:t> + </a:t>
            </a:r>
            <a:r>
              <a:rPr lang="en-US" dirty="0" err="1"/>
              <a:t>Importaciones</a:t>
            </a:r>
            <a:r>
              <a:rPr lang="en-US" dirty="0"/>
              <a:t> + CIF/FOB + </a:t>
            </a:r>
            <a:r>
              <a:rPr lang="en-US" dirty="0" err="1"/>
              <a:t>Impuestos</a:t>
            </a:r>
            <a:r>
              <a:rPr lang="en-US" dirty="0"/>
              <a:t> + </a:t>
            </a:r>
            <a:r>
              <a:rPr lang="en-US" dirty="0" err="1"/>
              <a:t>Márgenes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514E5A-5A19-D38B-0B9E-84007F8A15AD}"/>
              </a:ext>
            </a:extLst>
          </p:cNvPr>
          <p:cNvSpPr/>
          <p:nvPr/>
        </p:nvSpPr>
        <p:spPr>
          <a:xfrm>
            <a:off x="2827020" y="3589020"/>
            <a:ext cx="8526778" cy="285113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Un </a:t>
            </a:r>
            <a:r>
              <a:rPr lang="en-US" dirty="0" err="1"/>
              <a:t>camino</a:t>
            </a:r>
            <a:r>
              <a:rPr lang="en-US" dirty="0"/>
              <a:t> de </a:t>
            </a:r>
            <a:r>
              <a:rPr lang="en-US" dirty="0" err="1"/>
              <a:t>precios</a:t>
            </a:r>
            <a:r>
              <a:rPr lang="en-US" dirty="0"/>
              <a:t> </a:t>
            </a:r>
            <a:r>
              <a:rPr lang="en-US" dirty="0" err="1"/>
              <a:t>básicos</a:t>
            </a:r>
            <a:r>
              <a:rPr lang="en-US" dirty="0"/>
              <a:t> a </a:t>
            </a:r>
            <a:r>
              <a:rPr lang="en-US" dirty="0" err="1"/>
              <a:t>precios</a:t>
            </a:r>
            <a:r>
              <a:rPr lang="en-US" dirty="0"/>
              <a:t> de mercado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64A74A-1A6F-AEF0-7F88-8566376FE612}"/>
              </a:ext>
            </a:extLst>
          </p:cNvPr>
          <p:cNvSpPr/>
          <p:nvPr/>
        </p:nvSpPr>
        <p:spPr>
          <a:xfrm>
            <a:off x="10294620" y="3101339"/>
            <a:ext cx="1059178" cy="2250211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Oferta</a:t>
            </a:r>
            <a:r>
              <a:rPr lang="en-US" dirty="0"/>
              <a:t> = </a:t>
            </a:r>
            <a:r>
              <a:rPr lang="en-US" dirty="0" err="1"/>
              <a:t>Utiliza-ción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662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Content Placeholder 31">
            <a:extLst>
              <a:ext uri="{FF2B5EF4-FFF2-40B4-BE49-F238E27FC236}">
                <a16:creationId xmlns:a16="http://schemas.microsoft.com/office/drawing/2014/main" id="{A5E58101-A619-F551-A589-83772AD609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594" cy="3534807"/>
        </p:xfrm>
        <a:graphic>
          <a:graphicData uri="http://schemas.openxmlformats.org/drawingml/2006/table">
            <a:tbl>
              <a:tblPr/>
              <a:tblGrid>
                <a:gridCol w="2213811">
                  <a:extLst>
                    <a:ext uri="{9D8B030D-6E8A-4147-A177-3AD203B41FA5}">
                      <a16:colId xmlns:a16="http://schemas.microsoft.com/office/drawing/2014/main" val="2345272075"/>
                    </a:ext>
                  </a:extLst>
                </a:gridCol>
                <a:gridCol w="1185969">
                  <a:extLst>
                    <a:ext uri="{9D8B030D-6E8A-4147-A177-3AD203B41FA5}">
                      <a16:colId xmlns:a16="http://schemas.microsoft.com/office/drawing/2014/main" val="581457865"/>
                    </a:ext>
                  </a:extLst>
                </a:gridCol>
                <a:gridCol w="1185969">
                  <a:extLst>
                    <a:ext uri="{9D8B030D-6E8A-4147-A177-3AD203B41FA5}">
                      <a16:colId xmlns:a16="http://schemas.microsoft.com/office/drawing/2014/main" val="1237773953"/>
                    </a:ext>
                  </a:extLst>
                </a:gridCol>
                <a:gridCol w="1185969">
                  <a:extLst>
                    <a:ext uri="{9D8B030D-6E8A-4147-A177-3AD203B41FA5}">
                      <a16:colId xmlns:a16="http://schemas.microsoft.com/office/drawing/2014/main" val="3170762349"/>
                    </a:ext>
                  </a:extLst>
                </a:gridCol>
                <a:gridCol w="1185969">
                  <a:extLst>
                    <a:ext uri="{9D8B030D-6E8A-4147-A177-3AD203B41FA5}">
                      <a16:colId xmlns:a16="http://schemas.microsoft.com/office/drawing/2014/main" val="3638902496"/>
                    </a:ext>
                  </a:extLst>
                </a:gridCol>
                <a:gridCol w="1185969">
                  <a:extLst>
                    <a:ext uri="{9D8B030D-6E8A-4147-A177-3AD203B41FA5}">
                      <a16:colId xmlns:a16="http://schemas.microsoft.com/office/drawing/2014/main" val="523735596"/>
                    </a:ext>
                  </a:extLst>
                </a:gridCol>
                <a:gridCol w="1185969">
                  <a:extLst>
                    <a:ext uri="{9D8B030D-6E8A-4147-A177-3AD203B41FA5}">
                      <a16:colId xmlns:a16="http://schemas.microsoft.com/office/drawing/2014/main" val="2743768702"/>
                    </a:ext>
                  </a:extLst>
                </a:gridCol>
                <a:gridCol w="1185969">
                  <a:extLst>
                    <a:ext uri="{9D8B030D-6E8A-4147-A177-3AD203B41FA5}">
                      <a16:colId xmlns:a16="http://schemas.microsoft.com/office/drawing/2014/main" val="3509072006"/>
                    </a:ext>
                  </a:extLst>
                </a:gridCol>
              </a:tblGrid>
              <a:tr h="550648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Consumo Intermedio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Exporta-ciones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Consumo final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Formación bruta de capital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Utilización</a:t>
                      </a:r>
                      <a:b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</a:br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514290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 - B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 - 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1604306"/>
                  </a:ext>
                </a:extLst>
              </a:tr>
              <a:tr h="497359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Consumo intermedio de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Sector primario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Manu-</a:t>
                      </a:r>
                    </a:p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facturas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Servicios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114313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Productos agrícolas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1.781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7.906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5.434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3.235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1.285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20.527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5285053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Productos mineros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1.483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1.336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7.939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11.087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775068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Manufacturas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4.171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14.234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15.328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8.980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29.864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8.372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80.950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6840015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Servicios básicos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2.070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1.600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4.453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4262534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Construcción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1.066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347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18.225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19.679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8381256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Comercio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65606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Otros servicios</a:t>
                      </a:r>
                    </a:p>
                  </a:txBody>
                  <a:tcPr marL="79933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4.261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3.101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18.841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2.496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45.034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125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73.858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374194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Ajuste CIF/FOB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539487"/>
                  </a:ext>
                </a:extLst>
              </a:tr>
              <a:tr h="248680">
                <a:tc>
                  <a:txBody>
                    <a:bodyPr/>
                    <a:lstStyle/>
                    <a:p>
                      <a:pPr algn="l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Utilización Total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12.075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26.954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38.521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24.917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80.080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28.006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5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210.553</a:t>
                      </a:r>
                    </a:p>
                  </a:txBody>
                  <a:tcPr marL="8881" marR="8881" marT="8881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308843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C162A4A-FF17-425B-96AF-0C463C17E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Cuadro de </a:t>
            </a:r>
            <a:r>
              <a:rPr lang="en-US" dirty="0" err="1"/>
              <a:t>Utilización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867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9928DBF1-DE6E-4C2F-B609-6B29C4741EC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28618"/>
          <a:ext cx="7200900" cy="352425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1883498418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63332311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72530125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298745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877762665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Producción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775883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 - B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 - 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75BDA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7871088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Producción de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Sector primario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Manu-facturas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Servicios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67998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Valor Bruto de Producción</a:t>
                      </a:r>
                    </a:p>
                  </a:txBody>
                  <a:tcPr marL="857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27.453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42.813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108.156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178.421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760052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(-) Consumo intermedio</a:t>
                      </a:r>
                    </a:p>
                  </a:txBody>
                  <a:tcPr marL="857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12.075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26.954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38.521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77.550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71929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(=) Valor Agregado Bruto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15.378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15.858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69.635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100.872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773822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8587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6712141"/>
                  </a:ext>
                </a:extLst>
              </a:tr>
              <a:tr h="533400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Cálculo del Producto Interno Bruto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963085"/>
                  </a:ext>
                </a:extLst>
              </a:tr>
              <a:tr h="26670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(+) Valor Agregado Bruto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100.872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002151"/>
                  </a:ext>
                </a:extLst>
              </a:tr>
              <a:tr h="26670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s-E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(+/-) Impuestos menos subvenciones sobre los productos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7.236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987391"/>
                  </a:ext>
                </a:extLst>
              </a:tr>
              <a:tr h="26670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(=) Producto Interno Bruto (PIB) a precios corrientes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6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108.108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5BD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800300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91FC064-D4DB-4F64-8E77-42869486B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Valor Agregado Bruto y PIB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lado</a:t>
            </a:r>
            <a:r>
              <a:rPr lang="en-US" dirty="0"/>
              <a:t> de la </a:t>
            </a:r>
            <a:r>
              <a:rPr lang="en-US" dirty="0" err="1"/>
              <a:t>producción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153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4E3DC-44DE-40B1-9940-6C95B380C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 err="1"/>
              <a:t>Definición</a:t>
            </a:r>
            <a:r>
              <a:rPr lang="en-US" b="1" dirty="0"/>
              <a:t> de </a:t>
            </a:r>
            <a:r>
              <a:rPr lang="en-US" b="1" dirty="0" err="1"/>
              <a:t>Bioeconomía</a:t>
            </a:r>
            <a:r>
              <a:rPr lang="en-US" b="1" dirty="0"/>
              <a:t> </a:t>
            </a:r>
            <a:r>
              <a:rPr lang="en-US" b="1" dirty="0" err="1"/>
              <a:t>Internacionalmente</a:t>
            </a:r>
            <a:r>
              <a:rPr lang="en-US" b="1" dirty="0"/>
              <a:t> </a:t>
            </a:r>
            <a:r>
              <a:rPr lang="en-US" b="1" dirty="0" err="1"/>
              <a:t>Aceptada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1694E-F6B6-4F59-9F98-CCB8221F8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2121" y="2004335"/>
            <a:ext cx="6548718" cy="4023360"/>
          </a:xfr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anchor="ctr" anchorCtr="0">
            <a:noAutofit/>
          </a:bodyPr>
          <a:lstStyle/>
          <a:p>
            <a:pPr marL="0" indent="0" algn="ctr">
              <a:buNone/>
            </a:pPr>
            <a:r>
              <a:rPr lang="es-ES" sz="2400" b="1" dirty="0"/>
              <a:t>“La producción, utilización, conservación y regeneración de </a:t>
            </a:r>
            <a:r>
              <a:rPr lang="es-ES" sz="2400" b="1" dirty="0">
                <a:solidFill>
                  <a:schemeClr val="accent2">
                    <a:lumMod val="50000"/>
                  </a:schemeClr>
                </a:solidFill>
              </a:rPr>
              <a:t>recursos biológicos</a:t>
            </a:r>
            <a:r>
              <a:rPr lang="es-ES" sz="2400" b="1" dirty="0">
                <a:solidFill>
                  <a:srgbClr val="7030A0"/>
                </a:solidFill>
              </a:rPr>
              <a:t>, </a:t>
            </a:r>
            <a:r>
              <a:rPr lang="es-ES" sz="2400" b="1" i="1" dirty="0">
                <a:solidFill>
                  <a:srgbClr val="7030A0"/>
                </a:solidFill>
              </a:rPr>
              <a:t>incluyendo </a:t>
            </a:r>
            <a:r>
              <a:rPr lang="es-ES" sz="2400" b="1" i="1" dirty="0"/>
              <a:t>los conocimientos, la ciencia, la tecnología y la innovación relacionados con dichos recursos, para proporcionar información, productos, procesos y servicios a todos los sectores económicos,</a:t>
            </a:r>
            <a:r>
              <a:rPr lang="es-ES" sz="2400" b="1" dirty="0"/>
              <a:t> con el propósito de avanzar hacia una economía sostenible.” </a:t>
            </a:r>
          </a:p>
          <a:p>
            <a:pPr marL="0" indent="0" algn="ctr">
              <a:buNone/>
            </a:pPr>
            <a:r>
              <a:rPr lang="es-ES" sz="2400" b="1" dirty="0"/>
              <a:t>( German </a:t>
            </a:r>
            <a:r>
              <a:rPr lang="es-ES" sz="2400" b="1" dirty="0" err="1"/>
              <a:t>Bioeconomy</a:t>
            </a:r>
            <a:r>
              <a:rPr lang="es-ES" sz="2400" b="1" dirty="0"/>
              <a:t> Council, 2018)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342024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6B56-EFBE-44D4-9490-9262D245BDF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38200" y="487362"/>
            <a:ext cx="10515600" cy="1325563"/>
          </a:xfrm>
          <a:solidFill>
            <a:srgbClr val="084D59"/>
          </a:solidFill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</a:rPr>
              <a:t>¿</a:t>
            </a:r>
            <a:r>
              <a:rPr lang="en-US" sz="4000" dirty="0" err="1">
                <a:solidFill>
                  <a:schemeClr val="bg1"/>
                </a:solidFill>
              </a:rPr>
              <a:t>Qué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entendemos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por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recursos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err="1">
                <a:solidFill>
                  <a:schemeClr val="bg1"/>
                </a:solidFill>
              </a:rPr>
              <a:t>biológicos</a:t>
            </a:r>
            <a:r>
              <a:rPr lang="en-US" sz="4000" dirty="0">
                <a:solidFill>
                  <a:schemeClr val="bg1"/>
                </a:solidFill>
              </a:rPr>
              <a:t>?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4EDDD876-0566-4BC3-9D09-943DD12AFDD7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838200" y="18129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954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553B5-9A31-3C56-81B9-479A51C53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78273"/>
          </a:xfrm>
        </p:spPr>
        <p:txBody>
          <a:bodyPr>
            <a:normAutofit/>
          </a:bodyPr>
          <a:lstStyle/>
          <a:p>
            <a:r>
              <a:rPr lang="en-US" sz="3200" dirty="0"/>
              <a:t>OFERTA</a:t>
            </a:r>
            <a:br>
              <a:rPr lang="en-US" sz="3200" dirty="0"/>
            </a:br>
            <a:r>
              <a:rPr lang="en-US" sz="3200" dirty="0" err="1"/>
              <a:t>Actividad</a:t>
            </a:r>
            <a:r>
              <a:rPr lang="en-US" sz="3200" dirty="0"/>
              <a:t>: </a:t>
            </a:r>
            <a:r>
              <a:rPr lang="es-ES" sz="3200" dirty="0"/>
              <a:t>Fabricación de sustancias y productos químicos</a:t>
            </a:r>
            <a:endParaRPr lang="en-US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FDD3BED-E6D2-C282-E0D7-C7D1F49C30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853801"/>
              </p:ext>
            </p:extLst>
          </p:nvPr>
        </p:nvGraphicFramePr>
        <p:xfrm>
          <a:off x="1097280" y="1364877"/>
          <a:ext cx="10058400" cy="4897175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6096896">
                  <a:extLst>
                    <a:ext uri="{9D8B030D-6E8A-4147-A177-3AD203B41FA5}">
                      <a16:colId xmlns:a16="http://schemas.microsoft.com/office/drawing/2014/main" val="2815473241"/>
                    </a:ext>
                  </a:extLst>
                </a:gridCol>
                <a:gridCol w="1425389">
                  <a:extLst>
                    <a:ext uri="{9D8B030D-6E8A-4147-A177-3AD203B41FA5}">
                      <a16:colId xmlns:a16="http://schemas.microsoft.com/office/drawing/2014/main" val="3156780519"/>
                    </a:ext>
                  </a:extLst>
                </a:gridCol>
                <a:gridCol w="2536115">
                  <a:extLst>
                    <a:ext uri="{9D8B030D-6E8A-4147-A177-3AD203B41FA5}">
                      <a16:colId xmlns:a16="http://schemas.microsoft.com/office/drawing/2014/main" val="2515132142"/>
                    </a:ext>
                  </a:extLst>
                </a:gridCol>
              </a:tblGrid>
              <a:tr h="30737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 err="1">
                          <a:effectLst/>
                        </a:rPr>
                        <a:t>Productos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>
                          <a:effectLst/>
                        </a:rPr>
                        <a:t>Millones de B/.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Clasificación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extLst>
                  <a:ext uri="{0D108BD9-81ED-4DB2-BD59-A6C34878D82A}">
                    <a16:rowId xmlns:a16="http://schemas.microsoft.com/office/drawing/2014/main" val="321907373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ABONOS, FERTILIZANTES Y PESTICIDAS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19.71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933795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APARATOS DE USO DOMÉSTICO, SUS PARTES Y PIEZAS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0.06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446753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ARTÍCULOS TEXTILES EXCEPTO PRENDAS DE VESTIR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0.10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2422511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DESPERDICIOS Y DESECHOS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0.07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9695744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EQUIPOS DE TRANSPORTES, SUS PARTES Y PIEZAS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0.14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231589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JABÓN, PREPARADOS PARA LIMPIAR, PERFUMES Y PREPARADOS DE TOCADOR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244.49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5840314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JUEGOS Y JUGUETES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0.01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8590577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MAQUINARIA Y APARATOS ELÉCTRICOS, Y SUS PARTES Y PIEZAS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0.02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778757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MUEBLES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0.01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476335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OTROS ARTÍCULOS MANUFACTURADOS N.C.P.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0.05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559574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PINTURAS, BARNICES Y OTROS PRODUCTOS RELACIONADOS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39.57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625781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PRODUCTOS DE MADERA, EXCEPTO MUEBLES; ARTÍCULOS DE CORCHO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0.11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118133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PRODUCTOS DE PLÁSTICO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0.09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470041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PRODUCTOS FARMACÉUTICOS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0.37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3831462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PRODUCTOS QUÍMICOS BÁSICOS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76.25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3347864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PRODUCTOS QUÍMICOS N.C.P. Y FIBRAS TEXTILES MANUFACTURADAS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15.43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322586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SERVICIOS DE COMERCIO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5.53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75464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SERVICIOS DE TRANSPORTE DE CARGA POR VÍA TERRESTRE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0.00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883784"/>
                  </a:ext>
                </a:extLst>
              </a:tr>
              <a:tr h="2310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 dirty="0">
                          <a:effectLst/>
                        </a:rPr>
                        <a:t>VIDRIOS Y PRODUCTOS DE VIDRIOS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     0.03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285215"/>
                  </a:ext>
                </a:extLst>
              </a:tr>
              <a:tr h="1803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Oferta</a:t>
                      </a:r>
                      <a:r>
                        <a:rPr lang="en-US" sz="1400" u="none" strike="noStrike" dirty="0">
                          <a:effectLst/>
                        </a:rPr>
                        <a:t> Total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     402.04 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1854" marR="1854" marT="1854" marB="0" anchor="b"/>
                </a:tc>
                <a:extLst>
                  <a:ext uri="{0D108BD9-81ED-4DB2-BD59-A6C34878D82A}">
                    <a16:rowId xmlns:a16="http://schemas.microsoft.com/office/drawing/2014/main" val="88960096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891FADC-5EFA-654A-2B09-12CC2E15C776}"/>
              </a:ext>
            </a:extLst>
          </p:cNvPr>
          <p:cNvSpPr txBox="1"/>
          <p:nvPr/>
        </p:nvSpPr>
        <p:spPr>
          <a:xfrm>
            <a:off x="2324100" y="6476147"/>
            <a:ext cx="892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Fuente: INEC (2022). Sistema de Cuentas Nacionales de Panamá. Panamá: Instituto Nacional de </a:t>
            </a:r>
            <a:r>
              <a:rPr lang="en-US" sz="1400" dirty="0" err="1">
                <a:solidFill>
                  <a:schemeClr val="bg1"/>
                </a:solidFill>
              </a:rPr>
              <a:t>Estadística</a:t>
            </a:r>
            <a:r>
              <a:rPr lang="en-US" sz="1400" dirty="0">
                <a:solidFill>
                  <a:schemeClr val="bg1"/>
                </a:solidFill>
              </a:rPr>
              <a:t> y Censo.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4AC344-820F-4143-E62D-1178E50635F6}"/>
              </a:ext>
            </a:extLst>
          </p:cNvPr>
          <p:cNvSpPr txBox="1"/>
          <p:nvPr/>
        </p:nvSpPr>
        <p:spPr>
          <a:xfrm>
            <a:off x="744220" y="28194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02EF74-F198-0B1C-1C2C-A932EDCC8B1C}"/>
              </a:ext>
            </a:extLst>
          </p:cNvPr>
          <p:cNvSpPr txBox="1"/>
          <p:nvPr/>
        </p:nvSpPr>
        <p:spPr>
          <a:xfrm>
            <a:off x="744220" y="39878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BB0F43-003D-088B-7081-A44E28ED8699}"/>
              </a:ext>
            </a:extLst>
          </p:cNvPr>
          <p:cNvSpPr txBox="1"/>
          <p:nvPr/>
        </p:nvSpPr>
        <p:spPr>
          <a:xfrm>
            <a:off x="744220" y="48768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C3A2CC-E1E1-C252-009E-A62371E8B47F}"/>
              </a:ext>
            </a:extLst>
          </p:cNvPr>
          <p:cNvSpPr txBox="1"/>
          <p:nvPr/>
        </p:nvSpPr>
        <p:spPr>
          <a:xfrm>
            <a:off x="751840" y="51562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036791-ED5B-EA05-0F04-29D19EA12237}"/>
              </a:ext>
            </a:extLst>
          </p:cNvPr>
          <p:cNvSpPr txBox="1"/>
          <p:nvPr/>
        </p:nvSpPr>
        <p:spPr>
          <a:xfrm>
            <a:off x="759460" y="1651000"/>
            <a:ext cx="292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253923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9B48507-6D69-5400-667C-1EEA024AD1C7}"/>
              </a:ext>
            </a:extLst>
          </p:cNvPr>
          <p:cNvSpPr txBox="1"/>
          <p:nvPr/>
        </p:nvSpPr>
        <p:spPr>
          <a:xfrm>
            <a:off x="0" y="-147917"/>
            <a:ext cx="769121" cy="6629400"/>
          </a:xfrm>
          <a:prstGeom prst="rect">
            <a:avLst/>
          </a:prstGeom>
          <a:noFill/>
        </p:spPr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UTILIZACIÓN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CBA0EAA-945F-8034-A205-7242BDF9EA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601263"/>
              </p:ext>
            </p:extLst>
          </p:nvPr>
        </p:nvGraphicFramePr>
        <p:xfrm>
          <a:off x="705621" y="220381"/>
          <a:ext cx="10965679" cy="5892804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7600179">
                  <a:extLst>
                    <a:ext uri="{9D8B030D-6E8A-4147-A177-3AD203B41FA5}">
                      <a16:colId xmlns:a16="http://schemas.microsoft.com/office/drawing/2014/main" val="2267855543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3498485047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1885039123"/>
                    </a:ext>
                  </a:extLst>
                </a:gridCol>
              </a:tblGrid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Productos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Millones de B/.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Clasificación Bioeconomí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extLst>
                  <a:ext uri="{0D108BD9-81ED-4DB2-BD59-A6C34878D82A}">
                    <a16:rowId xmlns:a16="http://schemas.microsoft.com/office/drawing/2014/main" val="1298991854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ACEITES Y GRASAS DE ORIGEN VEGETAL Y ANIMAL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14.52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0100614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CAÑA DE AZÚCAR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660747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MADERA EN BRUTO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192637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OTROS ANIMALES Y OTROS PRODUCTOS ANIMALES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340626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 dirty="0">
                          <a:effectLst/>
                        </a:rPr>
                        <a:t>OTROS PRODUCTOS DE MOLINERÍA N.C.P. Y ALMIDONES Y SUS PRODUCTOS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4425032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OTROS PRODUCTOS SILVÍCOLAS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4622565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PASTA DE PAPEL, PAPEL Y CARTÓN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150787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PLANTAS AROMÁTICAS, MEDICINALES Y ESPECIAS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126173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PRODUCTOS DE LA EDICIÓN E IMPRESIÓN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535025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 dirty="0">
                          <a:effectLst/>
                        </a:rPr>
                        <a:t>PRODUCTOS DE MADERA, EXCEPTO MUEBLES; ARTÍCULOS DE CORCHO</a:t>
                      </a:r>
                      <a:endParaRPr lang="es-E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044353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PRODUCTOS DE PAPEL Y DE CARTÓN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0.28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06817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PRODUCTOS DE TABACO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669661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ABONOS, FERTILIZANTES Y PESTICIDAS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4.51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661299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AGUA NATURAL Y DISTRIBUCIÓN DE AGUA NATURAL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926337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ARTÍCULOS TEXTILES EXCEPTO PRENDAS DE VESTIR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33700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ENERGÍA ELÉCTRICA, GAS, VAPOR Y AIRE ACONDICIONADO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2.44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0311033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EVACUACIÓN DE AGUAS RESIDUALES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3087663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HILADOS E HILOS, TEJIDOS Y TEJIDOS TEXTILES CON PELO INSERTADO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482688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JABÓN, PREPARADOS PARA LIMPIAR, PERFUMES Y PREPARADOS DE TOCADOR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22.96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2583498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PINTURAS, BARNICES Y OTROS PRODUCTOS RELACIONADOS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9.01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942526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PRODUCTOS FARMACÉUTICOS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388968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SERVICIOS DE INVESTIGACIÓN CIENTÍFICAS Y DESARROLLO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0.06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867514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SERVICIOS DE SUMINISTRO DE COMIDA Y BEBIDAS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0.42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0257860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TEJIDOS DE PUNTO O GANCHILLO; PRENDAS DE VESTIR; PIELES FINAS Y ARTIFICIALES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0.10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r>
                        <a:rPr lang="en-US" sz="1400" u="none" strike="noStrike" dirty="0">
                          <a:effectLst/>
                        </a:rPr>
                        <a:t> </a:t>
                      </a:r>
                      <a:r>
                        <a:rPr lang="en-US" sz="1400" u="none" strike="noStrike" dirty="0" err="1">
                          <a:effectLst/>
                        </a:rPr>
                        <a:t>extendida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98199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(RESTO DE INSUMOS)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163.86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216182"/>
                  </a:ext>
                </a:extLst>
              </a:tr>
              <a:tr h="218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Utilización</a:t>
                      </a:r>
                      <a:r>
                        <a:rPr lang="en-US" sz="1400" u="none" strike="noStrike" dirty="0">
                          <a:effectLst/>
                        </a:rPr>
                        <a:t> Total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219.23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921" marR="3921" marT="3921" marB="0" anchor="b"/>
                </a:tc>
                <a:extLst>
                  <a:ext uri="{0D108BD9-81ED-4DB2-BD59-A6C34878D82A}">
                    <a16:rowId xmlns:a16="http://schemas.microsoft.com/office/drawing/2014/main" val="274531626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4F56867-2D16-682C-9A13-BDC3A0A3D88C}"/>
              </a:ext>
            </a:extLst>
          </p:cNvPr>
          <p:cNvSpPr txBox="1"/>
          <p:nvPr/>
        </p:nvSpPr>
        <p:spPr>
          <a:xfrm>
            <a:off x="2743200" y="6481483"/>
            <a:ext cx="89281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solidFill>
                  <a:schemeClr val="bg1"/>
                </a:solidFill>
              </a:rPr>
              <a:t>Fuente: INEC (2022). Sistema de Cuentas Nacionales de Panamá. Panamá: Instituto Nacional de </a:t>
            </a:r>
            <a:r>
              <a:rPr lang="en-US" sz="1400" dirty="0" err="1">
                <a:solidFill>
                  <a:schemeClr val="bg1"/>
                </a:solidFill>
              </a:rPr>
              <a:t>Estadística</a:t>
            </a:r>
            <a:r>
              <a:rPr lang="en-US" sz="1400" dirty="0">
                <a:solidFill>
                  <a:schemeClr val="bg1"/>
                </a:solidFill>
              </a:rPr>
              <a:t> y Censo.</a:t>
            </a:r>
          </a:p>
        </p:txBody>
      </p:sp>
    </p:spTree>
    <p:extLst>
      <p:ext uri="{BB962C8B-B14F-4D97-AF65-F5344CB8AC3E}">
        <p14:creationId xmlns:p14="http://schemas.microsoft.com/office/powerpoint/2010/main" val="34709631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0BD63E8-8676-A6EE-5356-0975CB0C9504}"/>
              </a:ext>
            </a:extLst>
          </p:cNvPr>
          <p:cNvSpPr/>
          <p:nvPr/>
        </p:nvSpPr>
        <p:spPr>
          <a:xfrm>
            <a:off x="8448857" y="2451100"/>
            <a:ext cx="3743143" cy="34290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95204-EF4D-7DA1-6D29-C35F3E3C7D4F}"/>
              </a:ext>
            </a:extLst>
          </p:cNvPr>
          <p:cNvSpPr txBox="1"/>
          <p:nvPr/>
        </p:nvSpPr>
        <p:spPr>
          <a:xfrm>
            <a:off x="145666" y="57089"/>
            <a:ext cx="425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OFERTA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B4110F-209F-5A6C-25FA-113AFCD57530}"/>
              </a:ext>
            </a:extLst>
          </p:cNvPr>
          <p:cNvSpPr txBox="1"/>
          <p:nvPr/>
        </p:nvSpPr>
        <p:spPr>
          <a:xfrm>
            <a:off x="4213312" y="17375"/>
            <a:ext cx="425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UTILIZACIÓN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623F49-61E6-316D-034A-6C3ED6E81D92}"/>
              </a:ext>
            </a:extLst>
          </p:cNvPr>
          <p:cNvSpPr txBox="1"/>
          <p:nvPr/>
        </p:nvSpPr>
        <p:spPr>
          <a:xfrm>
            <a:off x="8726942" y="127737"/>
            <a:ext cx="31869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VALOR AGREGADO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21291B83-7748-3B1F-2219-D263542E3E6B}"/>
              </a:ext>
            </a:extLst>
          </p:cNvPr>
          <p:cNvSpPr/>
          <p:nvPr/>
        </p:nvSpPr>
        <p:spPr>
          <a:xfrm>
            <a:off x="10047195" y="1715420"/>
            <a:ext cx="697005" cy="67218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93A4496B-527F-2379-69FD-41796D4F9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063690"/>
              </p:ext>
            </p:extLst>
          </p:nvPr>
        </p:nvGraphicFramePr>
        <p:xfrm>
          <a:off x="706333" y="4737100"/>
          <a:ext cx="3136900" cy="1143000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363414468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1899555922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Oferta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Millones de B/.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73876732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0.11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9500657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304.31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06495348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No 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97.63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72878474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402.04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03266574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401B93D-BBC3-975C-2A93-27A05E95A3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2705209"/>
              </p:ext>
            </p:extLst>
          </p:nvPr>
        </p:nvGraphicFramePr>
        <p:xfrm>
          <a:off x="4773979" y="4737100"/>
          <a:ext cx="3136900" cy="1143000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571899051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20914476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Utilización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Millones de B/.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520407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15.52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36415997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Bioeconomía extendida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39.85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27833047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 </a:t>
                      </a:r>
                      <a:r>
                        <a:rPr lang="en-US" sz="1400" u="none" strike="noStrike" dirty="0" err="1">
                          <a:effectLst/>
                        </a:rPr>
                        <a:t>bioeconomía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163.86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96480286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Total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219.23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39132841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7A4886A-EEC2-5783-D02B-65DFC9D6B3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285813"/>
              </p:ext>
            </p:extLst>
          </p:nvPr>
        </p:nvGraphicFramePr>
        <p:xfrm>
          <a:off x="8563157" y="749300"/>
          <a:ext cx="3578040" cy="914400"/>
        </p:xfrm>
        <a:graphic>
          <a:graphicData uri="http://schemas.openxmlformats.org/drawingml/2006/table">
            <a:tbl>
              <a:tblPr firstRow="1" lastRow="1" bandRow="1">
                <a:tableStyleId>{21E4AEA4-8DFA-4A89-87EB-49C32662AFE0}</a:tableStyleId>
              </a:tblPr>
              <a:tblGrid>
                <a:gridCol w="2195040">
                  <a:extLst>
                    <a:ext uri="{9D8B030D-6E8A-4147-A177-3AD203B41FA5}">
                      <a16:colId xmlns:a16="http://schemas.microsoft.com/office/drawing/2014/main" val="1019646290"/>
                    </a:ext>
                  </a:extLst>
                </a:gridCol>
                <a:gridCol w="1383000">
                  <a:extLst>
                    <a:ext uri="{9D8B030D-6E8A-4147-A177-3AD203B41FA5}">
                      <a16:colId xmlns:a16="http://schemas.microsoft.com/office/drawing/2014/main" val="164492836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Transacción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Millones de B/.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598438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ES" sz="1400" u="none" strike="noStrike">
                          <a:effectLst/>
                        </a:rPr>
                        <a:t>A. Valor Bruto de Producción</a:t>
                      </a:r>
                      <a:endParaRPr lang="es-E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402.04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1056119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B. Consumo intermedio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219.23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02340027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C. Valor Agregado Bruto (A-B)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182.81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03094461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2CC9BE13-8F0B-D9CC-6B75-F0ED408D67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7366914"/>
              </p:ext>
            </p:extLst>
          </p:nvPr>
        </p:nvGraphicFramePr>
        <p:xfrm>
          <a:off x="8559797" y="2976562"/>
          <a:ext cx="3581400" cy="904875"/>
        </p:xfrm>
        <a:graphic>
          <a:graphicData uri="http://schemas.openxmlformats.org/drawingml/2006/table">
            <a:tbl>
              <a:tblPr firstRow="1" lastRow="1" bandRow="1">
                <a:tableStyleId>{7DF18680-E054-41AD-8BC1-D1AEF772440D}</a:tableStyleId>
              </a:tblPr>
              <a:tblGrid>
                <a:gridCol w="2197100">
                  <a:extLst>
                    <a:ext uri="{9D8B030D-6E8A-4147-A177-3AD203B41FA5}">
                      <a16:colId xmlns:a16="http://schemas.microsoft.com/office/drawing/2014/main" val="2604453296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728274621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Transacción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Millones de B/.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44043696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Valor Agregado Bioeconómico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0.05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84523927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Valor Agregado Bio Ext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138.37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23007924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Valor Agregado No Bio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44.39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00796951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Valor Agregado Total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182.81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168787634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9D50628A-F171-7878-660C-9E76B4E0A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478812"/>
              </p:ext>
            </p:extLst>
          </p:nvPr>
        </p:nvGraphicFramePr>
        <p:xfrm>
          <a:off x="8544846" y="4489757"/>
          <a:ext cx="3581400" cy="904875"/>
        </p:xfrm>
        <a:graphic>
          <a:graphicData uri="http://schemas.openxmlformats.org/drawingml/2006/table">
            <a:tbl>
              <a:tblPr firstRow="1" lastRow="1" bandRow="1">
                <a:tableStyleId>{7DF18680-E054-41AD-8BC1-D1AEF772440D}</a:tableStyleId>
              </a:tblPr>
              <a:tblGrid>
                <a:gridCol w="2197100">
                  <a:extLst>
                    <a:ext uri="{9D8B030D-6E8A-4147-A177-3AD203B41FA5}">
                      <a16:colId xmlns:a16="http://schemas.microsoft.com/office/drawing/2014/main" val="2837870560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28394391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Transacción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Millones de B/.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836338388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Valor Agregado Bioeconómico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12.95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52142635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Valor Agregado Bio Ext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33.23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58489111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Valor Agregado No Bio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136.63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255148857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Valor Agregado Total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182.81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72746130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667B5B6B-E0E9-DFEE-B3F3-3DDA622BF792}"/>
              </a:ext>
            </a:extLst>
          </p:cNvPr>
          <p:cNvSpPr txBox="1"/>
          <p:nvPr/>
        </p:nvSpPr>
        <p:spPr>
          <a:xfrm>
            <a:off x="8559797" y="2519994"/>
            <a:ext cx="3263546" cy="37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Contribución</a:t>
            </a:r>
            <a:r>
              <a:rPr lang="en-US" dirty="0"/>
              <a:t> VA via </a:t>
            </a:r>
            <a:r>
              <a:rPr lang="en-US" dirty="0" err="1"/>
              <a:t>oferta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692F08B-3AD2-7F08-BA2A-4925EEA9CBA4}"/>
              </a:ext>
            </a:extLst>
          </p:cNvPr>
          <p:cNvSpPr txBox="1"/>
          <p:nvPr/>
        </p:nvSpPr>
        <p:spPr>
          <a:xfrm>
            <a:off x="8559797" y="4001131"/>
            <a:ext cx="3263546" cy="3730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Contribución</a:t>
            </a:r>
            <a:r>
              <a:rPr lang="en-US" dirty="0"/>
              <a:t> VA via </a:t>
            </a:r>
            <a:r>
              <a:rPr lang="en-US" dirty="0" err="1"/>
              <a:t>utilización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A7EDE71-E2C1-F42F-5DAA-6F4B56035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457" y="808792"/>
            <a:ext cx="3623508" cy="3623508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7A4AB65-6F73-BF5F-06CA-C72592F96A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6692" y="808792"/>
            <a:ext cx="3623508" cy="362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6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4" grpId="0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2B99C6C-4D66-0440-9B5D-4FA7E0BF14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570865"/>
              </p:ext>
            </p:extLst>
          </p:nvPr>
        </p:nvGraphicFramePr>
        <p:xfrm>
          <a:off x="267420" y="671071"/>
          <a:ext cx="11086383" cy="5581828"/>
        </p:xfrm>
        <a:graphic>
          <a:graphicData uri="http://schemas.openxmlformats.org/drawingml/2006/table">
            <a:tbl>
              <a:tblPr/>
              <a:tblGrid>
                <a:gridCol w="1924539">
                  <a:extLst>
                    <a:ext uri="{9D8B030D-6E8A-4147-A177-3AD203B41FA5}">
                      <a16:colId xmlns:a16="http://schemas.microsoft.com/office/drawing/2014/main" val="2771090548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2806846387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3152976943"/>
                    </a:ext>
                  </a:extLst>
                </a:gridCol>
                <a:gridCol w="608665">
                  <a:extLst>
                    <a:ext uri="{9D8B030D-6E8A-4147-A177-3AD203B41FA5}">
                      <a16:colId xmlns:a16="http://schemas.microsoft.com/office/drawing/2014/main" val="3357769339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3560447429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1555768358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2460712674"/>
                    </a:ext>
                  </a:extLst>
                </a:gridCol>
                <a:gridCol w="608665">
                  <a:extLst>
                    <a:ext uri="{9D8B030D-6E8A-4147-A177-3AD203B41FA5}">
                      <a16:colId xmlns:a16="http://schemas.microsoft.com/office/drawing/2014/main" val="1821878174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4253900134"/>
                    </a:ext>
                  </a:extLst>
                </a:gridCol>
                <a:gridCol w="556494">
                  <a:extLst>
                    <a:ext uri="{9D8B030D-6E8A-4147-A177-3AD203B41FA5}">
                      <a16:colId xmlns:a16="http://schemas.microsoft.com/office/drawing/2014/main" val="736519115"/>
                    </a:ext>
                  </a:extLst>
                </a:gridCol>
                <a:gridCol w="556494">
                  <a:extLst>
                    <a:ext uri="{9D8B030D-6E8A-4147-A177-3AD203B41FA5}">
                      <a16:colId xmlns:a16="http://schemas.microsoft.com/office/drawing/2014/main" val="971038061"/>
                    </a:ext>
                  </a:extLst>
                </a:gridCol>
                <a:gridCol w="556494">
                  <a:extLst>
                    <a:ext uri="{9D8B030D-6E8A-4147-A177-3AD203B41FA5}">
                      <a16:colId xmlns:a16="http://schemas.microsoft.com/office/drawing/2014/main" val="3023882186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2311384433"/>
                    </a:ext>
                  </a:extLst>
                </a:gridCol>
                <a:gridCol w="614460">
                  <a:extLst>
                    <a:ext uri="{9D8B030D-6E8A-4147-A177-3AD203B41FA5}">
                      <a16:colId xmlns:a16="http://schemas.microsoft.com/office/drawing/2014/main" val="3580409557"/>
                    </a:ext>
                  </a:extLst>
                </a:gridCol>
                <a:gridCol w="707211">
                  <a:extLst>
                    <a:ext uri="{9D8B030D-6E8A-4147-A177-3AD203B41FA5}">
                      <a16:colId xmlns:a16="http://schemas.microsoft.com/office/drawing/2014/main" val="2688188917"/>
                    </a:ext>
                  </a:extLst>
                </a:gridCol>
                <a:gridCol w="652141">
                  <a:extLst>
                    <a:ext uri="{9D8B030D-6E8A-4147-A177-3AD203B41FA5}">
                      <a16:colId xmlns:a16="http://schemas.microsoft.com/office/drawing/2014/main" val="3528358210"/>
                    </a:ext>
                  </a:extLst>
                </a:gridCol>
              </a:tblGrid>
              <a:tr h="313159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Producción / Consumo intermedio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Exportaciones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/ </a:t>
                      </a:r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Importaciones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Ajuste CIF/FOB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Impuestos menos subvenciones 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Márgenes de distribución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Consumo final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Formación bruta de capital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993279"/>
                  </a:ext>
                </a:extLst>
              </a:tr>
              <a:tr h="155013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Agricultura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Minería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Manufacturas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Servicios básicos y agua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Construcción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Comercio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Otros servicios</a:t>
                      </a:r>
                    </a:p>
                  </a:txBody>
                  <a:tcPr marL="6094" marR="6094" marT="6094" marB="0" vert="vert27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0711255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Oferta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16.330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11.122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42.813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4.462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19.730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15.481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68.482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24.896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7.236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210.553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275909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Bioeconomía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16.192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21.081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3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BF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2.643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1.414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7.863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49.360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23,4%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029347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Bioeconomía extendida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4.487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7.204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4.612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3.179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1.087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1.759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22.910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10,9%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8038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bioeconomía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11.122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17.244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3.880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12.527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15.481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63.704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20.163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-1.090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4.735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-9.622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138.283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65,7%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611364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Ajuste CIF/FOB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-1.090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1.090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0955677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Utilización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6.816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5.258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26.954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2.647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7.914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5.570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22.390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24.917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80.080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28.006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210.553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8157180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Bioeconomía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2.628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12.015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1.533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1.528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12.134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17.832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1.583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49.360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23,4%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701475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Bioeconomía extendida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1.109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1.698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415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2.252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8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344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9.242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7.391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22.910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10,9%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773327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 bioeconomía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3.079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4.930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13.242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2.587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6.224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5.134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18.609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D2D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12.439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53.006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19.032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138.283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65,7%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217372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Ajuste CIF/FOB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002121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Valor Agregado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9.514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5.864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15.858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1.815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11.817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9.912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46.092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100.872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100,0%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5708168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094" marR="6094" marT="609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589711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Valor Agregado BIO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494B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Total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045162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% Bio en Consumo Intermedio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38,6%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1,6%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44,6%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0,0%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19,4%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0,4%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6,8%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69119"/>
                  </a:ext>
                </a:extLst>
              </a:tr>
              <a:tr h="21921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VA BIO vía Consumo Intermedio</a:t>
                      </a:r>
                    </a:p>
                  </a:txBody>
                  <a:tcPr marL="54849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3.668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7.069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2.289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3.146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16.305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16,2%</a:t>
                      </a:r>
                    </a:p>
                  </a:txBody>
                  <a:tcPr marL="6094" marR="6094" marT="60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6091486"/>
                  </a:ext>
                </a:extLst>
              </a:tr>
            </a:tbl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7D860202-7C83-6BFC-48C4-BDB7D621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417" y="77638"/>
            <a:ext cx="11086383" cy="587991"/>
          </a:xfrm>
        </p:spPr>
        <p:txBody>
          <a:bodyPr>
            <a:normAutofit fontScale="90000"/>
          </a:bodyPr>
          <a:lstStyle/>
          <a:p>
            <a:r>
              <a:rPr lang="en-US" dirty="0"/>
              <a:t>Valor Agregado (</a:t>
            </a:r>
            <a:r>
              <a:rPr lang="en-US" dirty="0" err="1"/>
              <a:t>Método</a:t>
            </a:r>
            <a:r>
              <a:rPr lang="en-US" dirty="0"/>
              <a:t> del </a:t>
            </a:r>
            <a:r>
              <a:rPr lang="en-US" dirty="0" err="1"/>
              <a:t>Consumo</a:t>
            </a:r>
            <a:r>
              <a:rPr lang="en-US" dirty="0"/>
              <a:t> </a:t>
            </a:r>
            <a:r>
              <a:rPr lang="en-US" dirty="0" err="1"/>
              <a:t>Intermedio</a:t>
            </a:r>
            <a:r>
              <a:rPr lang="en-US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D18ECE-F79A-1183-A96F-5D925D0A345A}"/>
              </a:ext>
            </a:extLst>
          </p:cNvPr>
          <p:cNvSpPr txBox="1"/>
          <p:nvPr/>
        </p:nvSpPr>
        <p:spPr>
          <a:xfrm rot="16200000">
            <a:off x="9207766" y="3453799"/>
            <a:ext cx="516731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1800"/>
              </a:spcAft>
            </a:pPr>
            <a:r>
              <a:rPr lang="es-CR" sz="1100" dirty="0"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Fuente: </a:t>
            </a:r>
            <a:r>
              <a:rPr lang="es-E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Vargas, R; </a:t>
            </a:r>
            <a:r>
              <a:rPr lang="es-ES" sz="1100" dirty="0" err="1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Mondaini</a:t>
            </a:r>
            <a:r>
              <a:rPr lang="es-ES" sz="1100" dirty="0"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, A; &amp; Rodríguez, A. (2023) Cuentas satélite de bioeconomía para 13 países de América Latina y el Caribe: metodología y resultados. </a:t>
            </a:r>
            <a:endParaRPr lang="en-US" sz="1100" dirty="0">
              <a:effectLst/>
              <a:latin typeface="Times New Roman" panose="02020603050405020304" pitchFamily="18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7952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DA70F-0161-4F2E-970D-E91C6269B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4565"/>
            <a:ext cx="10058400" cy="909151"/>
          </a:xfrm>
        </p:spPr>
        <p:txBody>
          <a:bodyPr/>
          <a:lstStyle/>
          <a:p>
            <a:pPr algn="ctr"/>
            <a:r>
              <a:rPr lang="en-US" dirty="0"/>
              <a:t>Valor Agregado </a:t>
            </a:r>
            <a:r>
              <a:rPr lang="en-US" dirty="0" err="1"/>
              <a:t>Bioeconómico</a:t>
            </a:r>
            <a:endParaRPr lang="en-US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E583C4C-6AFA-D00F-4C15-E7DAAD97C7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2113785"/>
              </p:ext>
            </p:extLst>
          </p:nvPr>
        </p:nvGraphicFramePr>
        <p:xfrm>
          <a:off x="140677" y="1148861"/>
          <a:ext cx="11863754" cy="5086474"/>
        </p:xfrm>
        <a:graphic>
          <a:graphicData uri="http://schemas.openxmlformats.org/drawingml/2006/table">
            <a:tbl>
              <a:tblPr firstRow="1" firstCol="1">
                <a:tableStyleId>{21E4AEA4-8DFA-4A89-87EB-49C32662AFE0}</a:tableStyleId>
              </a:tblPr>
              <a:tblGrid>
                <a:gridCol w="2377603">
                  <a:extLst>
                    <a:ext uri="{9D8B030D-6E8A-4147-A177-3AD203B41FA5}">
                      <a16:colId xmlns:a16="http://schemas.microsoft.com/office/drawing/2014/main" val="2084755656"/>
                    </a:ext>
                  </a:extLst>
                </a:gridCol>
                <a:gridCol w="3056918">
                  <a:extLst>
                    <a:ext uri="{9D8B030D-6E8A-4147-A177-3AD203B41FA5}">
                      <a16:colId xmlns:a16="http://schemas.microsoft.com/office/drawing/2014/main" val="3433264049"/>
                    </a:ext>
                  </a:extLst>
                </a:gridCol>
                <a:gridCol w="2280558">
                  <a:extLst>
                    <a:ext uri="{9D8B030D-6E8A-4147-A177-3AD203B41FA5}">
                      <a16:colId xmlns:a16="http://schemas.microsoft.com/office/drawing/2014/main" val="168307050"/>
                    </a:ext>
                  </a:extLst>
                </a:gridCol>
                <a:gridCol w="2232036">
                  <a:extLst>
                    <a:ext uri="{9D8B030D-6E8A-4147-A177-3AD203B41FA5}">
                      <a16:colId xmlns:a16="http://schemas.microsoft.com/office/drawing/2014/main" val="2028889545"/>
                    </a:ext>
                  </a:extLst>
                </a:gridCol>
                <a:gridCol w="1916639">
                  <a:extLst>
                    <a:ext uri="{9D8B030D-6E8A-4147-A177-3AD203B41FA5}">
                      <a16:colId xmlns:a16="http://schemas.microsoft.com/office/drawing/2014/main" val="4123618912"/>
                    </a:ext>
                  </a:extLst>
                </a:gridCol>
              </a:tblGrid>
              <a:tr h="592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Bioeconomía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Bioeconomía extendida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No bioeconomía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Valor Agregado 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4313" marR="4763" marT="4763" marB="0" anchor="b"/>
                </a:tc>
                <a:extLst>
                  <a:ext uri="{0D108BD9-81ED-4DB2-BD59-A6C34878D82A}">
                    <a16:rowId xmlns:a16="http://schemas.microsoft.com/office/drawing/2014/main" val="426484469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Nicaragua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84195145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Ecuador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11%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900640534"/>
                  </a:ext>
                </a:extLst>
              </a:tr>
              <a:tr h="59226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República Dominicana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19%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78%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626926502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Guatemala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242908946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Argentina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14%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1463962304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Colombia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318545872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Honduras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405276422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Costa Rica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558200748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El Salvador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12%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78%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279349757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Brasil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82%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4042934221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Chile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85%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956961330"/>
                  </a:ext>
                </a:extLst>
              </a:tr>
              <a:tr h="32405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Perú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317622751"/>
                  </a:ext>
                </a:extLst>
              </a:tr>
              <a:tr h="31521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Panamá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92%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 dirty="0">
                          <a:effectLst/>
                        </a:rP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763" marR="4763" marT="4763" marB="0" anchor="b"/>
                </a:tc>
                <a:extLst>
                  <a:ext uri="{0D108BD9-81ED-4DB2-BD59-A6C34878D82A}">
                    <a16:rowId xmlns:a16="http://schemas.microsoft.com/office/drawing/2014/main" val="893895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7385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(Año 2022, </a:t>
            </a:r>
            <a:r>
              <a:rPr lang="en-US" dirty="0" err="1"/>
              <a:t>porcentajes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13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F6993A5-ADE6-35A9-041D-9EC5E8786F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947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Consumo</a:t>
            </a:r>
            <a:r>
              <a:rPr lang="en-US" dirty="0"/>
              <a:t> </a:t>
            </a:r>
            <a:r>
              <a:rPr lang="en-US" dirty="0" err="1"/>
              <a:t>intermedio</a:t>
            </a:r>
            <a:r>
              <a:rPr lang="en-US" dirty="0"/>
              <a:t> (Año 2022, </a:t>
            </a:r>
            <a:r>
              <a:rPr lang="en-US" dirty="0" err="1"/>
              <a:t>porcentajes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14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DAC8A29A-B233-4087-AAC8-13DC29F10B1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387413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Importaciones</a:t>
            </a:r>
            <a:r>
              <a:rPr lang="en-US" dirty="0"/>
              <a:t> (Año 2022, </a:t>
            </a:r>
            <a:r>
              <a:rPr lang="en-US" dirty="0" err="1"/>
              <a:t>porcentajes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15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CFAAC662-D4E4-480C-B1D1-7DAB6A58D7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30818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Exportaciones</a:t>
            </a:r>
            <a:r>
              <a:rPr lang="en-US" dirty="0"/>
              <a:t> (Año 2022, </a:t>
            </a:r>
            <a:r>
              <a:rPr lang="en-US" dirty="0" err="1"/>
              <a:t>porcentajes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16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CAB7E7C-0734-4D9B-877E-2B2588F8CC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378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Impuestos</a:t>
            </a:r>
            <a:r>
              <a:rPr lang="en-US" dirty="0"/>
              <a:t> – </a:t>
            </a:r>
            <a:r>
              <a:rPr lang="en-US" dirty="0" err="1"/>
              <a:t>Subvenciones</a:t>
            </a:r>
            <a:br>
              <a:rPr lang="en-US" dirty="0"/>
            </a:br>
            <a:r>
              <a:rPr lang="en-US" dirty="0"/>
              <a:t>(Año 2022, </a:t>
            </a:r>
            <a:r>
              <a:rPr lang="en-US" dirty="0" err="1"/>
              <a:t>porcentajes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17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987C3A9-7B96-482F-BCFD-8801DD0A65A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38247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Tasa </a:t>
            </a:r>
            <a:r>
              <a:rPr lang="en-US" dirty="0" err="1"/>
              <a:t>impositiva</a:t>
            </a:r>
            <a:r>
              <a:rPr lang="en-US" dirty="0"/>
              <a:t> </a:t>
            </a:r>
            <a:r>
              <a:rPr lang="en-US" dirty="0" err="1"/>
              <a:t>implícita</a:t>
            </a:r>
            <a:br>
              <a:rPr lang="en-US" dirty="0"/>
            </a:br>
            <a:r>
              <a:rPr lang="en-US" dirty="0"/>
              <a:t>(Año 2022, </a:t>
            </a:r>
            <a:r>
              <a:rPr lang="en-US" dirty="0" err="1"/>
              <a:t>porcentajes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18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D46893E-6479-4B30-BF08-FFEEAA6367F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33120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Consumo</a:t>
            </a:r>
            <a:r>
              <a:rPr lang="en-US" dirty="0"/>
              <a:t> Final (Año 2022, </a:t>
            </a:r>
            <a:r>
              <a:rPr lang="en-US" dirty="0" err="1"/>
              <a:t>porcentajes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19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FCFA1C32-FAEF-47F2-876F-1B30976A683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2200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89E02-3566-7444-4183-925056268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Formación</a:t>
            </a:r>
            <a:r>
              <a:rPr lang="en-US" dirty="0"/>
              <a:t> Bruta de Capital (Año 2022, </a:t>
            </a:r>
            <a:r>
              <a:rPr lang="en-US" dirty="0" err="1"/>
              <a:t>porcentajes</a:t>
            </a:r>
            <a:r>
              <a:rPr lang="en-US" dirty="0"/>
              <a:t>)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413CF-2990-E556-F9D9-C2FE833B3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D8D479-8942-46E8-A226-A4E01F7A105C}" type="slidenum">
              <a:rPr lang="en-US" smtClean="0"/>
              <a:t>20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F861C-D028-D6AA-E43C-6F41134E9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71F7A3-94A8-4C74-B8CD-E19041BE74ED}" type="datetime1">
              <a:rPr lang="es-GT" smtClean="0"/>
              <a:t>18/03/2026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045383-B065-29F3-F45F-CA01179CC313}"/>
              </a:ext>
            </a:extLst>
          </p:cNvPr>
          <p:cNvSpPr txBox="1"/>
          <p:nvPr/>
        </p:nvSpPr>
        <p:spPr>
          <a:xfrm>
            <a:off x="1717705" y="6186488"/>
            <a:ext cx="92465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Nota: Limitaciones para dar seguimiento a la inversión del sector bioeconómico.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5B42459F-A1F1-446A-9DB2-0E46E79BDBB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09700" y="1565275"/>
          <a:ext cx="9372600" cy="46212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30855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956504-6D95-B2EF-3D15-ECC3B80526A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2192000" cy="1049607"/>
          </a:xfrm>
          <a:solidFill>
            <a:schemeClr val="accent2"/>
          </a:solidFill>
        </p:spPr>
        <p:txBody>
          <a:bodyPr/>
          <a:lstStyle/>
          <a:p>
            <a:pPr algn="ctr"/>
            <a:r>
              <a:rPr lang="en-US" b="1" dirty="0" err="1">
                <a:solidFill>
                  <a:schemeClr val="bg1"/>
                </a:solidFill>
              </a:rPr>
              <a:t>Publicación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5D594B3-B5D2-5D4E-D133-FF3BAB001EF1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802921" y="1581810"/>
            <a:ext cx="3559175" cy="4621212"/>
          </a:xfrm>
          <a:ln w="19050">
            <a:solidFill>
              <a:schemeClr val="accent2">
                <a:lumMod val="50000"/>
              </a:schemeClr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0837FC6-B74C-3232-A136-E26DA946F4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392" y="1591677"/>
            <a:ext cx="3916393" cy="4613007"/>
          </a:xfrm>
          <a:prstGeom prst="rect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82067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90B3A-058E-010B-BB38-F9DBF5804B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9600" dirty="0"/>
              <a:t>¡Gracias!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312BFF-5C06-1E9C-B647-D34D639C35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cap="none" dirty="0">
                <a:solidFill>
                  <a:schemeClr val="tx1"/>
                </a:solidFill>
              </a:rPr>
              <a:t>renovargas@gmail.com</a:t>
            </a:r>
          </a:p>
        </p:txBody>
      </p:sp>
    </p:spTree>
    <p:extLst>
      <p:ext uri="{BB962C8B-B14F-4D97-AF65-F5344CB8AC3E}">
        <p14:creationId xmlns:p14="http://schemas.microsoft.com/office/powerpoint/2010/main" val="35024412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D181-A464-9FD8-508D-27F4BE7C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Lógica</a:t>
            </a:r>
            <a:r>
              <a:rPr lang="en-US" dirty="0"/>
              <a:t> de </a:t>
            </a:r>
            <a:r>
              <a:rPr lang="en-US" dirty="0" err="1"/>
              <a:t>conversión</a:t>
            </a:r>
            <a:r>
              <a:rPr lang="en-US" dirty="0"/>
              <a:t> a base de </a:t>
            </a:r>
            <a:r>
              <a:rPr lang="en-US" dirty="0" err="1"/>
              <a:t>datos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BF35E7-1078-CA64-1202-CE682102C4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2414" y="2422006"/>
          <a:ext cx="5500048" cy="2901660"/>
        </p:xfrm>
        <a:graphic>
          <a:graphicData uri="http://schemas.openxmlformats.org/drawingml/2006/table">
            <a:tbl>
              <a:tblPr firstRow="1" firstCol="1" bandRow="1"/>
              <a:tblGrid>
                <a:gridCol w="1298916">
                  <a:extLst>
                    <a:ext uri="{9D8B030D-6E8A-4147-A177-3AD203B41FA5}">
                      <a16:colId xmlns:a16="http://schemas.microsoft.com/office/drawing/2014/main" val="2465993077"/>
                    </a:ext>
                  </a:extLst>
                </a:gridCol>
                <a:gridCol w="1405545">
                  <a:extLst>
                    <a:ext uri="{9D8B030D-6E8A-4147-A177-3AD203B41FA5}">
                      <a16:colId xmlns:a16="http://schemas.microsoft.com/office/drawing/2014/main" val="3607151356"/>
                    </a:ext>
                  </a:extLst>
                </a:gridCol>
                <a:gridCol w="1405545">
                  <a:extLst>
                    <a:ext uri="{9D8B030D-6E8A-4147-A177-3AD203B41FA5}">
                      <a16:colId xmlns:a16="http://schemas.microsoft.com/office/drawing/2014/main" val="152727186"/>
                    </a:ext>
                  </a:extLst>
                </a:gridCol>
                <a:gridCol w="1390042">
                  <a:extLst>
                    <a:ext uri="{9D8B030D-6E8A-4147-A177-3AD203B41FA5}">
                      <a16:colId xmlns:a16="http://schemas.microsoft.com/office/drawing/2014/main" val="2934463725"/>
                    </a:ext>
                  </a:extLst>
                </a:gridCol>
              </a:tblGrid>
              <a:tr h="5803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23507"/>
                  </a:ext>
                </a:extLst>
              </a:tr>
              <a:tr h="58033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593219"/>
                  </a:ext>
                </a:extLst>
              </a:tr>
              <a:tr h="5803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5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791788"/>
                  </a:ext>
                </a:extLst>
              </a:tr>
              <a:tr h="5803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5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61213"/>
                  </a:ext>
                </a:extLst>
              </a:tr>
              <a:tr h="580332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5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326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F6EAC24-AE0D-3A7E-4AAE-77ECD4B6B868}"/>
              </a:ext>
            </a:extLst>
          </p:cNvPr>
          <p:cNvSpPr txBox="1"/>
          <p:nvPr/>
        </p:nvSpPr>
        <p:spPr>
          <a:xfrm>
            <a:off x="442414" y="2079022"/>
            <a:ext cx="5500048" cy="338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GT" sz="1600" b="1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Cuadro de entrada múltiple (3 dimensiones)</a:t>
            </a:r>
            <a:endParaRPr lang="en-US" sz="1600" dirty="0">
              <a:solidFill>
                <a:schemeClr val="accent6">
                  <a:lumMod val="75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88A94-FD75-0730-AD5B-1F90CEA773E5}"/>
              </a:ext>
            </a:extLst>
          </p:cNvPr>
          <p:cNvSpPr txBox="1"/>
          <p:nvPr/>
        </p:nvSpPr>
        <p:spPr>
          <a:xfrm>
            <a:off x="143301" y="6503158"/>
            <a:ext cx="5097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Fuente: </a:t>
            </a:r>
            <a:r>
              <a:rPr lang="en-US" sz="1600" dirty="0" err="1"/>
              <a:t>elaboración</a:t>
            </a:r>
            <a:r>
              <a:rPr lang="en-US" sz="1600" dirty="0"/>
              <a:t> </a:t>
            </a:r>
            <a:r>
              <a:rPr lang="en-US" sz="1600" dirty="0" err="1"/>
              <a:t>propia</a:t>
            </a:r>
            <a:r>
              <a:rPr lang="en-US" sz="1600" dirty="0"/>
              <a:t>.</a:t>
            </a:r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365D7C82-A6B4-F6F4-83D4-F64151003C1C}"/>
              </a:ext>
            </a:extLst>
          </p:cNvPr>
          <p:cNvGraphicFramePr>
            <a:graphicFrameLocks/>
          </p:cNvGraphicFramePr>
          <p:nvPr/>
        </p:nvGraphicFramePr>
        <p:xfrm>
          <a:off x="7162802" y="2422006"/>
          <a:ext cx="4146642" cy="3876439"/>
        </p:xfrm>
        <a:graphic>
          <a:graphicData uri="http://schemas.openxmlformats.org/drawingml/2006/table">
            <a:tbl>
              <a:tblPr firstRow="1" firstCol="1" bandRow="1"/>
              <a:tblGrid>
                <a:gridCol w="1294914">
                  <a:extLst>
                    <a:ext uri="{9D8B030D-6E8A-4147-A177-3AD203B41FA5}">
                      <a16:colId xmlns:a16="http://schemas.microsoft.com/office/drawing/2014/main" val="1532994687"/>
                    </a:ext>
                  </a:extLst>
                </a:gridCol>
                <a:gridCol w="1025749">
                  <a:extLst>
                    <a:ext uri="{9D8B030D-6E8A-4147-A177-3AD203B41FA5}">
                      <a16:colId xmlns:a16="http://schemas.microsoft.com/office/drawing/2014/main" val="3267883866"/>
                    </a:ext>
                  </a:extLst>
                </a:gridCol>
                <a:gridCol w="1127597">
                  <a:extLst>
                    <a:ext uri="{9D8B030D-6E8A-4147-A177-3AD203B41FA5}">
                      <a16:colId xmlns:a16="http://schemas.microsoft.com/office/drawing/2014/main" val="1127731227"/>
                    </a:ext>
                  </a:extLst>
                </a:gridCol>
                <a:gridCol w="698382">
                  <a:extLst>
                    <a:ext uri="{9D8B030D-6E8A-4147-A177-3AD203B41FA5}">
                      <a16:colId xmlns:a16="http://schemas.microsoft.com/office/drawing/2014/main" val="4061018713"/>
                    </a:ext>
                  </a:extLst>
                </a:gridCol>
              </a:tblGrid>
              <a:tr h="5537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Transacciones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Actividades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Valor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23507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593219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791788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61213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32602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25278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6175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6CA574D5-6B08-467E-AAF3-F350DB8B5D35}"/>
              </a:ext>
            </a:extLst>
          </p:cNvPr>
          <p:cNvSpPr txBox="1"/>
          <p:nvPr/>
        </p:nvSpPr>
        <p:spPr>
          <a:xfrm>
            <a:off x="7162802" y="2084832"/>
            <a:ext cx="4146642" cy="355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GT" sz="1600" b="1" i="0" u="none" strike="noStrike" kern="12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Archivo plano estructurado  (1 dimensión)</a:t>
            </a:r>
            <a:endParaRPr lang="en-US" sz="1600" b="0" i="0" u="none" strike="noStrike" dirty="0"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24D877D3-00A4-8BCE-4AC8-252A929110CF}"/>
              </a:ext>
            </a:extLst>
          </p:cNvPr>
          <p:cNvSpPr/>
          <p:nvPr/>
        </p:nvSpPr>
        <p:spPr>
          <a:xfrm>
            <a:off x="6356944" y="3946184"/>
            <a:ext cx="416256" cy="555113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905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DD181-A464-9FD8-508D-27F4BE7C4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Dimensión</a:t>
            </a:r>
            <a:r>
              <a:rPr lang="en-US" dirty="0"/>
              <a:t> bioeconómica </a:t>
            </a:r>
            <a:r>
              <a:rPr lang="en-US" dirty="0" err="1"/>
              <a:t>equivalente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FBF35E7-1078-CA64-1202-CE682102C4D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4719" y="2285524"/>
          <a:ext cx="4146642" cy="3876439"/>
        </p:xfrm>
        <a:graphic>
          <a:graphicData uri="http://schemas.openxmlformats.org/drawingml/2006/table">
            <a:tbl>
              <a:tblPr firstRow="1" firstCol="1" bandRow="1"/>
              <a:tblGrid>
                <a:gridCol w="1294914">
                  <a:extLst>
                    <a:ext uri="{9D8B030D-6E8A-4147-A177-3AD203B41FA5}">
                      <a16:colId xmlns:a16="http://schemas.microsoft.com/office/drawing/2014/main" val="1532994687"/>
                    </a:ext>
                  </a:extLst>
                </a:gridCol>
                <a:gridCol w="1025749">
                  <a:extLst>
                    <a:ext uri="{9D8B030D-6E8A-4147-A177-3AD203B41FA5}">
                      <a16:colId xmlns:a16="http://schemas.microsoft.com/office/drawing/2014/main" val="3267883866"/>
                    </a:ext>
                  </a:extLst>
                </a:gridCol>
                <a:gridCol w="1127597">
                  <a:extLst>
                    <a:ext uri="{9D8B030D-6E8A-4147-A177-3AD203B41FA5}">
                      <a16:colId xmlns:a16="http://schemas.microsoft.com/office/drawing/2014/main" val="1127731227"/>
                    </a:ext>
                  </a:extLst>
                </a:gridCol>
                <a:gridCol w="698382">
                  <a:extLst>
                    <a:ext uri="{9D8B030D-6E8A-4147-A177-3AD203B41FA5}">
                      <a16:colId xmlns:a16="http://schemas.microsoft.com/office/drawing/2014/main" val="4061018713"/>
                    </a:ext>
                  </a:extLst>
                </a:gridCol>
              </a:tblGrid>
              <a:tr h="5537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Transacciones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Actividades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Valor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23507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593219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791788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61213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32602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25278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15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6175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17F0DBA-B0E0-3BCA-3A4C-3301E89478D7}"/>
              </a:ext>
            </a:extLst>
          </p:cNvPr>
          <p:cNvSpPr txBox="1"/>
          <p:nvPr/>
        </p:nvSpPr>
        <p:spPr>
          <a:xfrm>
            <a:off x="204719" y="1963843"/>
            <a:ext cx="4146642" cy="355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 rtl="0" eaLnBrk="1" fontAlgn="t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s-GT" sz="1600" b="1" i="0" u="none" strike="noStrike" kern="1200" dirty="0">
                <a:solidFill>
                  <a:schemeClr val="accent6">
                    <a:lumMod val="7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Archivo plano estructurado  (1 dimensión)</a:t>
            </a:r>
            <a:endParaRPr lang="en-US" sz="1600" b="0" i="0" u="none" strike="noStrike" dirty="0">
              <a:solidFill>
                <a:schemeClr val="accent6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88A94-FD75-0730-AD5B-1F90CEA773E5}"/>
              </a:ext>
            </a:extLst>
          </p:cNvPr>
          <p:cNvSpPr txBox="1"/>
          <p:nvPr/>
        </p:nvSpPr>
        <p:spPr>
          <a:xfrm>
            <a:off x="143301" y="6503158"/>
            <a:ext cx="5097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Fuente: </a:t>
            </a:r>
            <a:r>
              <a:rPr lang="en-US" sz="1600" dirty="0" err="1"/>
              <a:t>elaboración</a:t>
            </a:r>
            <a:r>
              <a:rPr lang="en-US" sz="1600" dirty="0"/>
              <a:t> </a:t>
            </a:r>
            <a:r>
              <a:rPr lang="en-US" sz="1600" dirty="0" err="1"/>
              <a:t>propia</a:t>
            </a:r>
            <a:r>
              <a:rPr lang="en-US" sz="1600" dirty="0"/>
              <a:t>.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F9F95060-425D-A434-62BA-A4277A26379E}"/>
              </a:ext>
            </a:extLst>
          </p:cNvPr>
          <p:cNvGraphicFramePr>
            <a:graphicFrameLocks/>
          </p:cNvGraphicFramePr>
          <p:nvPr/>
        </p:nvGraphicFramePr>
        <p:xfrm>
          <a:off x="4881349" y="2285522"/>
          <a:ext cx="7105930" cy="3876439"/>
        </p:xfrm>
        <a:graphic>
          <a:graphicData uri="http://schemas.openxmlformats.org/drawingml/2006/table">
            <a:tbl>
              <a:tblPr firstRow="1" firstCol="1" bandRow="1"/>
              <a:tblGrid>
                <a:gridCol w="1368327">
                  <a:extLst>
                    <a:ext uri="{9D8B030D-6E8A-4147-A177-3AD203B41FA5}">
                      <a16:colId xmlns:a16="http://schemas.microsoft.com/office/drawing/2014/main" val="1532994687"/>
                    </a:ext>
                  </a:extLst>
                </a:gridCol>
                <a:gridCol w="1251234">
                  <a:extLst>
                    <a:ext uri="{9D8B030D-6E8A-4147-A177-3AD203B41FA5}">
                      <a16:colId xmlns:a16="http://schemas.microsoft.com/office/drawing/2014/main" val="3267883866"/>
                    </a:ext>
                  </a:extLst>
                </a:gridCol>
                <a:gridCol w="1251234">
                  <a:extLst>
                    <a:ext uri="{9D8B030D-6E8A-4147-A177-3AD203B41FA5}">
                      <a16:colId xmlns:a16="http://schemas.microsoft.com/office/drawing/2014/main" val="2795888055"/>
                    </a:ext>
                  </a:extLst>
                </a:gridCol>
                <a:gridCol w="1251234">
                  <a:extLst>
                    <a:ext uri="{9D8B030D-6E8A-4147-A177-3AD203B41FA5}">
                      <a16:colId xmlns:a16="http://schemas.microsoft.com/office/drawing/2014/main" val="1127731227"/>
                    </a:ext>
                  </a:extLst>
                </a:gridCol>
                <a:gridCol w="1251234">
                  <a:extLst>
                    <a:ext uri="{9D8B030D-6E8A-4147-A177-3AD203B41FA5}">
                      <a16:colId xmlns:a16="http://schemas.microsoft.com/office/drawing/2014/main" val="2019630211"/>
                    </a:ext>
                  </a:extLst>
                </a:gridCol>
                <a:gridCol w="732667">
                  <a:extLst>
                    <a:ext uri="{9D8B030D-6E8A-4147-A177-3AD203B41FA5}">
                      <a16:colId xmlns:a16="http://schemas.microsoft.com/office/drawing/2014/main" val="4061018713"/>
                    </a:ext>
                  </a:extLst>
                </a:gridCol>
              </a:tblGrid>
              <a:tr h="553777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Transacciones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</a:t>
                      </a:r>
                      <a:r>
                        <a:rPr lang="en-US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P.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Actividades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500" b="1" dirty="0" err="1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</a:t>
                      </a:r>
                      <a:r>
                        <a:rPr lang="en-US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A.)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500" b="1" dirty="0">
                          <a:solidFill>
                            <a:schemeClr val="accent6">
                              <a:lumMod val="40000"/>
                              <a:lumOff val="60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Valor</a:t>
                      </a:r>
                      <a:endParaRPr lang="en-US" sz="1500" dirty="0">
                        <a:solidFill>
                          <a:schemeClr val="accent6">
                            <a:lumMod val="40000"/>
                            <a:lumOff val="60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23507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Bioactividad</a:t>
                      </a:r>
                      <a:endParaRPr lang="en-US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593219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Bioactividad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791788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61213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r>
                        <a:rPr lang="en-US" sz="1400" b="1" dirty="0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accent6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Extendida</a:t>
                      </a:r>
                      <a:endParaRPr lang="en-US" sz="1400" b="1" dirty="0">
                        <a:solidFill>
                          <a:schemeClr val="accent6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 err="1">
                          <a:solidFill>
                            <a:schemeClr val="accent2">
                              <a:lumMod val="75000"/>
                            </a:schemeClr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Bioactividad</a:t>
                      </a:r>
                      <a:endParaRPr lang="en-US" sz="1400" b="1" dirty="0">
                        <a:solidFill>
                          <a:schemeClr val="accent2">
                            <a:lumMod val="75000"/>
                          </a:schemeClr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32602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Bioactividad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25278"/>
                  </a:ext>
                </a:extLst>
              </a:tr>
              <a:tr h="55377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Producto 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US" sz="1400" b="1" dirty="0" err="1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4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661753"/>
                  </a:ext>
                </a:extLst>
              </a:tr>
            </a:tbl>
          </a:graphicData>
        </a:graphic>
      </p:graphicFrame>
      <p:sp>
        <p:nvSpPr>
          <p:cNvPr id="13" name="Arrow: Right 12">
            <a:extLst>
              <a:ext uri="{FF2B5EF4-FFF2-40B4-BE49-F238E27FC236}">
                <a16:creationId xmlns:a16="http://schemas.microsoft.com/office/drawing/2014/main" id="{749D023D-8351-60C7-0C6F-D13377C92682}"/>
              </a:ext>
            </a:extLst>
          </p:cNvPr>
          <p:cNvSpPr/>
          <p:nvPr/>
        </p:nvSpPr>
        <p:spPr>
          <a:xfrm>
            <a:off x="4430228" y="4083446"/>
            <a:ext cx="421775" cy="517160"/>
          </a:xfrm>
          <a:prstGeom prst="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D9785B-01F8-CD1F-D481-BFF03C85FFBA}"/>
              </a:ext>
            </a:extLst>
          </p:cNvPr>
          <p:cNvGrpSpPr/>
          <p:nvPr/>
        </p:nvGrpSpPr>
        <p:grpSpPr>
          <a:xfrm>
            <a:off x="7499445" y="2135876"/>
            <a:ext cx="3775886" cy="4183038"/>
            <a:chOff x="7499445" y="2135876"/>
            <a:chExt cx="3775886" cy="41830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87D3D7-A98A-70AB-F9CF-F08586AF647F}"/>
                </a:ext>
              </a:extLst>
            </p:cNvPr>
            <p:cNvSpPr/>
            <p:nvPr/>
          </p:nvSpPr>
          <p:spPr>
            <a:xfrm>
              <a:off x="7499445" y="2135876"/>
              <a:ext cx="1262418" cy="4183038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5E9578C-8300-BDD9-2737-0401B9456853}"/>
                </a:ext>
              </a:extLst>
            </p:cNvPr>
            <p:cNvSpPr/>
            <p:nvPr/>
          </p:nvSpPr>
          <p:spPr>
            <a:xfrm>
              <a:off x="10012913" y="2135876"/>
              <a:ext cx="1262418" cy="4183038"/>
            </a:xfrm>
            <a:prstGeom prst="rect">
              <a:avLst/>
            </a:prstGeom>
            <a:noFill/>
            <a:ln w="762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88151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7F7C-B901-7F60-6830-133371FDD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94FFAB48-1407-659D-EFA2-529B7449E4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59764" y="2084832"/>
          <a:ext cx="11017769" cy="4600782"/>
        </p:xfrm>
        <a:graphic>
          <a:graphicData uri="http://schemas.openxmlformats.org/drawingml/2006/table">
            <a:tbl>
              <a:tblPr firstRow="1" firstCol="1" bandRow="1"/>
              <a:tblGrid>
                <a:gridCol w="2602007">
                  <a:extLst>
                    <a:ext uri="{9D8B030D-6E8A-4147-A177-3AD203B41FA5}">
                      <a16:colId xmlns:a16="http://schemas.microsoft.com/office/drawing/2014/main" val="2465993077"/>
                    </a:ext>
                  </a:extLst>
                </a:gridCol>
                <a:gridCol w="2815607">
                  <a:extLst>
                    <a:ext uri="{9D8B030D-6E8A-4147-A177-3AD203B41FA5}">
                      <a16:colId xmlns:a16="http://schemas.microsoft.com/office/drawing/2014/main" val="3607151356"/>
                    </a:ext>
                  </a:extLst>
                </a:gridCol>
                <a:gridCol w="2815607">
                  <a:extLst>
                    <a:ext uri="{9D8B030D-6E8A-4147-A177-3AD203B41FA5}">
                      <a16:colId xmlns:a16="http://schemas.microsoft.com/office/drawing/2014/main" val="152727186"/>
                    </a:ext>
                  </a:extLst>
                </a:gridCol>
                <a:gridCol w="2784548">
                  <a:extLst>
                    <a:ext uri="{9D8B030D-6E8A-4147-A177-3AD203B41FA5}">
                      <a16:colId xmlns:a16="http://schemas.microsoft.com/office/drawing/2014/main" val="2934463725"/>
                    </a:ext>
                  </a:extLst>
                </a:gridCol>
              </a:tblGrid>
              <a:tr h="511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Producción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Importación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623507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865618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1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Actividad 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2593219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9942170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Producto 1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56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791788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Extendida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958788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Producto 2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461213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b="1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 </a:t>
                      </a:r>
                      <a:r>
                        <a:rPr lang="en-US" sz="1600" b="1" dirty="0" err="1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Bioeconomía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n-US" sz="1600" b="1" dirty="0">
                          <a:effectLst/>
                          <a:latin typeface="Calibri" panose="020F0502020204030204" pitchFamily="34" charset="0"/>
                          <a:cs typeface="Times New Roman" panose="02020603050405020304" pitchFamily="18" charset="0"/>
                        </a:rPr>
                        <a:t>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9411820"/>
                  </a:ext>
                </a:extLst>
              </a:tr>
              <a:tr h="511198">
                <a:tc>
                  <a:txBody>
                    <a:bodyPr/>
                    <a:lstStyle/>
                    <a:p>
                      <a:pPr marL="0" marR="0" algn="l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b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     Producto 3</a:t>
                      </a:r>
                      <a:endParaRPr lang="en-US" sz="1600" b="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n-US" sz="1600" dirty="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69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GT" sz="16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832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769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386</TotalTime>
  <Words>2055</Words>
  <Application>Microsoft Office PowerPoint</Application>
  <PresentationFormat>Widescreen</PresentationFormat>
  <Paragraphs>955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Aptos</vt:lpstr>
      <vt:lpstr>Aptos Narrow</vt:lpstr>
      <vt:lpstr>Arial</vt:lpstr>
      <vt:lpstr>Calibri</vt:lpstr>
      <vt:lpstr>Calibri Light</vt:lpstr>
      <vt:lpstr>Times New Roman</vt:lpstr>
      <vt:lpstr>Retrospect</vt:lpstr>
      <vt:lpstr>La contabilidad nacional de la bioeconomía</vt:lpstr>
      <vt:lpstr>Sistema de Cuentas Nacionales y Cuentas Satélite</vt:lpstr>
      <vt:lpstr>Cuadro de Oferta</vt:lpstr>
      <vt:lpstr>Cuadro de Utilización</vt:lpstr>
      <vt:lpstr>Valor Agregado Bruto y PIB por el lado de la producción</vt:lpstr>
      <vt:lpstr>Definición de Bioeconomía Internacionalmente Aceptada</vt:lpstr>
      <vt:lpstr>¿Qué entendemos por recursos biológicos?</vt:lpstr>
      <vt:lpstr>OFERTA Actividad: Fabricación de sustancias y productos químicos</vt:lpstr>
      <vt:lpstr>PowerPoint Presentation</vt:lpstr>
      <vt:lpstr>PowerPoint Presentation</vt:lpstr>
      <vt:lpstr>Valor Agregado (Método del Consumo Intermedio)</vt:lpstr>
      <vt:lpstr>Valor Agregado Bioeconómico</vt:lpstr>
      <vt:lpstr>Producción (Año 2022, porcentajes)</vt:lpstr>
      <vt:lpstr>Consumo intermedio (Año 2022, porcentajes)</vt:lpstr>
      <vt:lpstr>Importaciones (Año 2022, porcentajes)</vt:lpstr>
      <vt:lpstr>Exportaciones (Año 2022, porcentajes)</vt:lpstr>
      <vt:lpstr>Impuestos – Subvenciones (Año 2022, porcentajes)</vt:lpstr>
      <vt:lpstr>Tasa impositiva implícita (Año 2022, porcentajes)</vt:lpstr>
      <vt:lpstr>Consumo Final (Año 2022, porcentajes)</vt:lpstr>
      <vt:lpstr>Formación Bruta de Capital (Año 2022, porcentajes) </vt:lpstr>
      <vt:lpstr>Publicación</vt:lpstr>
      <vt:lpstr>¡Gracias!</vt:lpstr>
      <vt:lpstr>Lógica de conversión a base de datos</vt:lpstr>
      <vt:lpstr>Dimensión bioeconómica equivalente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Vargas</dc:creator>
  <cp:lastModifiedBy>Renato Vargas</cp:lastModifiedBy>
  <cp:revision>6</cp:revision>
  <dcterms:created xsi:type="dcterms:W3CDTF">2026-01-28T15:52:38Z</dcterms:created>
  <dcterms:modified xsi:type="dcterms:W3CDTF">2026-03-18T18:55:55Z</dcterms:modified>
</cp:coreProperties>
</file>